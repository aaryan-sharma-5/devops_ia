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Fira Sans" panose="020B0503050000020004" pitchFamily="34" charset="0"/>
      <p:regular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gv8UxGxe+gimfJlPZieiUCqCO5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r>
              <a:t>Welcome the evaluator; introduce team members: Aaryan Sharma (16010123012), Anamay Narkar (16010123040), Aditya Singh (16010123025), Vraj Soni (160101220). State the project topic: Automated PostgreSQL Backup and Point-in-Time Recovery using pgBackRest without cloud infrastructure.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Tell the incident story: peak registrations, accidental DELETE, dashboard drops to 80/0. State the recovery criteria.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at Garba KPI = 40 post-recovery. Stress that nothing is mocked; the web server queries PostgreSQL on every request.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project objectives: automated backup, continuous WAL archiving, disaster recovery without cloud infrastructure.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Defuse the 'rsync is bad' misreading: stopped rsync is perfectly consistent at time T. But snapshot-only cannot replay post-snapshot transactions.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 the data flow: app writes to DB, WAL is pushed to repository volume /var/lib/pgbackrest, backup-tools controls PITR restore.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individual backup size (4.50 MiB/697.7 KiB/635.8 KiB) from cumulative repo size (11.58 MiB/13.67 MiB/15.53 MiB binary; 12.1 MB/14.3 MB/16.3 MB decimal via du -sb). Highlight named restore point and verified WAL archival gate.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home screenshot with 12 OCT badge and live pill. Mention that seed is always 100 bookings and both scenarios receive identical 20 HTTP registrations.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Post-snapshot registrations recovered: 0/20. Snapshot, 20 registrations, DELETE, restore: back to 100, Garba 20, zero of the new twenty survive. Baseline snapshot contains no post-snapshot WAL replay.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Post-backup registrations recovered: 20/20. Full backup, 20 registrations, named restore point, verified archival, DELETE, restore to name, promote. Engine logs confirm target. All 20 IDs back.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Display all three empirical plots: recovery counts, backup duration, and storage comparison. Highlight that table relation size is ~3.9 MiB while pgBackRest cluster DB size is 33.5 MB. Contrast individual backup sizes (4.50 MiB, 697.7 KiB, 635.8 KiB) against cumulative repository growth measured via du -sb (11.58 MiB / 12.1 MB to 15.53 MiB / 16.3 MB).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core answer to the RQ. Point to pgbackrest.org and postgresql.org references. Offer to run either scenario live via Makefile.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>
            <a:spLocks noGrp="1"/>
          </p:cNvSpPr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" name="Google Shape;33;p13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5680472"/>
            <a:ext cx="838200" cy="1190779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sz="6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/>
          <p:nvPr/>
        </p:nvSpPr>
        <p:spPr>
          <a:xfrm>
            <a:off x="0" y="6080760"/>
            <a:ext cx="838200" cy="79049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4"/>
          <p:cNvSpPr/>
          <p:nvPr/>
        </p:nvSpPr>
        <p:spPr>
          <a:xfrm>
            <a:off x="10169610" y="6356350"/>
            <a:ext cx="2022390" cy="514900"/>
          </a:xfrm>
          <a:prstGeom prst="rect">
            <a:avLst/>
          </a:prstGeom>
          <a:solidFill>
            <a:srgbClr val="D922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4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Google Shape;9;p4" descr="Graphical user interface, text, application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1124596" y="226123"/>
            <a:ext cx="728472" cy="539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4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93862" y="141576"/>
            <a:ext cx="2316256" cy="70870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>
            <a:spLocks noGrp="1"/>
          </p:cNvSpPr>
          <p:nvPr>
            <p:ph type="ctrTitle"/>
          </p:nvPr>
        </p:nvSpPr>
        <p:spPr>
          <a:xfrm>
            <a:off x="2900960" y="566446"/>
            <a:ext cx="6535232" cy="578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>
              <a:defRPr sz="2300" b="1">
                <a:solidFill>
                  <a:srgbClr val="5B1A2E"/>
                </a:solidFill>
              </a:defRPr>
            </a:pPr>
            <a:r>
              <a:rPr dirty="0"/>
              <a:t>Automated PostgreSQL Backup and Point-in-Time Recovery using </a:t>
            </a:r>
            <a:r>
              <a:rPr dirty="0" err="1"/>
              <a:t>pgBackRest</a:t>
            </a:r>
            <a:endParaRPr dirty="0"/>
          </a:p>
        </p:txBody>
      </p:sp>
      <p:sp>
        <p:nvSpPr>
          <p:cNvPr id="81" name="Google Shape;81;p2"/>
          <p:cNvSpPr txBox="1">
            <a:spLocks noGrp="1"/>
          </p:cNvSpPr>
          <p:nvPr>
            <p:ph type="subTitle" idx="1"/>
          </p:nvPr>
        </p:nvSpPr>
        <p:spPr>
          <a:xfrm>
            <a:off x="35518" y="1144891"/>
            <a:ext cx="12109155" cy="72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rPr dirty="0"/>
              <a:t>Automating Database Backups, WAL Archiving &amp; Disaster Recovery without Cloud Infrastructure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rPr dirty="0"/>
              <a:t>Demonstrated via </a:t>
            </a:r>
            <a:r>
              <a:rPr dirty="0" err="1"/>
              <a:t>StagePass</a:t>
            </a:r>
            <a:r>
              <a:rPr dirty="0"/>
              <a:t> (KJSCE Garba Eve) • PostgreSQL 17.11 &amp; </a:t>
            </a:r>
            <a:r>
              <a:rPr dirty="0" err="1"/>
              <a:t>pgBackRest</a:t>
            </a:r>
            <a:r>
              <a:rPr dirty="0"/>
              <a:t> 2.59.3</a:t>
            </a:r>
          </a:p>
          <a:p>
            <a:pPr>
              <a:defRPr sz="900" b="1">
                <a:solidFill>
                  <a:srgbClr val="5B1A2E"/>
                </a:solidFill>
              </a:defRPr>
            </a:pPr>
            <a:r>
              <a:rPr sz="1000" dirty="0"/>
              <a:t>Team: Aaryan Sharma (16010123012) • Anamay </a:t>
            </a:r>
            <a:r>
              <a:rPr sz="1000" dirty="0" err="1"/>
              <a:t>Narkar</a:t>
            </a:r>
            <a:r>
              <a:rPr sz="1000" dirty="0"/>
              <a:t> (16010123040) • Aditya Singh (16010123025) • Vraj Soni (160101220)</a:t>
            </a:r>
          </a:p>
        </p:txBody>
      </p: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518" y="2274354"/>
            <a:ext cx="6052457" cy="3512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2"/>
          <p:cNvPicPr preferRelativeResize="0"/>
          <p:nvPr/>
        </p:nvPicPr>
        <p:blipFill rotWithShape="1">
          <a:blip r:embed="rId4">
            <a:alphaModFix/>
          </a:blip>
          <a:srcRect r="59220"/>
          <a:stretch/>
        </p:blipFill>
        <p:spPr>
          <a:xfrm rot="-5400000">
            <a:off x="7424061" y="1000149"/>
            <a:ext cx="3512457" cy="602342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dt" idx="10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400" b="0" i="0" u="none" strike="noStrike" cap="non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 txBox="1">
            <a:spLocks noGrp="1"/>
          </p:cNvSpPr>
          <p:nvPr>
            <p:ph type="ftr" idx="11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400" b="0" i="0" u="none" strike="noStrike" cap="non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 txBox="1">
            <a:spLocks noGrp="1"/>
          </p:cNvSpPr>
          <p:nvPr>
            <p:ph type="sldNum" idx="12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fld>
            <a:endParaRPr sz="1200" b="0" i="0" u="none" strike="noStrike" cap="non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Production Incident: Accidental DELETE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85216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4692" y="1768640"/>
            <a:ext cx="5605272" cy="348916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rPr sz="1200" dirty="0"/>
              <a:t>INCIDENT SCENARIO &amp; BUSINESS IMPACT</a:t>
            </a:r>
          </a:p>
          <a:p>
            <a:r>
              <a:rPr b="1" dirty="0">
                <a:solidFill>
                  <a:srgbClr val="1E293B"/>
                </a:solidFill>
              </a:rPr>
              <a:t>• Production Context: </a:t>
            </a:r>
            <a:r>
              <a:rPr b="0" dirty="0">
                <a:solidFill>
                  <a:srgbClr val="334155"/>
                </a:solidFill>
              </a:rPr>
              <a:t>Peak online booking window for the KJSCE Garba Eve event.
</a:t>
            </a:r>
          </a:p>
          <a:p>
            <a:r>
              <a:rPr b="1" dirty="0">
                <a:solidFill>
                  <a:srgbClr val="DC2626"/>
                </a:solidFill>
              </a:rPr>
              <a:t>• Operator Catastrophe: </a:t>
            </a:r>
            <a:r>
              <a:rPr b="0" dirty="0">
                <a:solidFill>
                  <a:srgbClr val="334155"/>
                </a:solidFill>
              </a:rPr>
              <a:t>An unconstrained SQL maintenance statement is issued:
</a:t>
            </a:r>
          </a:p>
          <a:p>
            <a:pPr>
              <a:spcAft>
                <a:spcPts val="400"/>
              </a:spcAft>
              <a:defRPr sz="1000" b="1">
                <a:solidFill>
                  <a:srgbClr val="380C17"/>
                </a:solidFill>
              </a:defRPr>
            </a:pPr>
            <a:r>
              <a:rPr sz="1200" dirty="0"/>
              <a:t>   DELETE FROM bookings WHERE </a:t>
            </a:r>
            <a:r>
              <a:rPr sz="1200" dirty="0" err="1"/>
              <a:t>event_id</a:t>
            </a:r>
            <a:r>
              <a:rPr sz="1200" dirty="0"/>
              <a:t> = 1;</a:t>
            </a:r>
            <a:br>
              <a:rPr sz="1200" dirty="0"/>
            </a:br>
            <a:endParaRPr sz="1200" dirty="0"/>
          </a:p>
          <a:p>
            <a:r>
              <a:rPr b="1" dirty="0">
                <a:solidFill>
                  <a:srgbClr val="1E293B"/>
                </a:solidFill>
              </a:rPr>
              <a:t>• Immediate Impact: </a:t>
            </a:r>
            <a:r>
              <a:rPr b="0" dirty="0">
                <a:solidFill>
                  <a:srgbClr val="334155"/>
                </a:solidFill>
              </a:rPr>
              <a:t>Total bookings drop from 120 to 80. All Garba bookings read exactly 0 on the live operations dashboard.
</a:t>
            </a:r>
          </a:p>
          <a:p>
            <a:r>
              <a:rPr b="1" dirty="0">
                <a:solidFill>
                  <a:srgbClr val="059669"/>
                </a:solidFill>
              </a:rPr>
              <a:t>• Disaster Recovery Mandate: </a:t>
            </a:r>
            <a:r>
              <a:rPr b="0" dirty="0">
                <a:solidFill>
                  <a:srgbClr val="334155"/>
                </a:solidFill>
              </a:rPr>
              <a:t>Restore service automatically to the pre-incident point in time while evaluating recovery time and reliability without cloud infrastructure.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43484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68312" y="1873568"/>
            <a:ext cx="3547872" cy="1303947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rPr sz="1100" dirty="0"/>
              <a:t>GARBA BOOKINGS AT INCIDENT</a:t>
            </a:r>
          </a:p>
          <a:p>
            <a:pPr>
              <a:spcAft>
                <a:spcPts val="200"/>
              </a:spcAft>
              <a:defRPr sz="3800" b="1">
                <a:solidFill>
                  <a:srgbClr val="DC2626"/>
                </a:solidFill>
              </a:defRPr>
            </a:pPr>
            <a:r>
              <a:rPr sz="4400" dirty="0"/>
              <a:t>0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rPr sz="1200" dirty="0"/>
              <a:t>40 Confirmed Registrations Instantly Wiped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3566160"/>
            <a:ext cx="4434840" cy="1691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27164" y="3802326"/>
            <a:ext cx="4323588" cy="1219308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rPr sz="1100" dirty="0"/>
              <a:t>CONTROLLED RECOVERY TARGET</a:t>
            </a:r>
          </a:p>
          <a:p>
            <a:pPr>
              <a:spcAft>
                <a:spcPts val="200"/>
              </a:spcAft>
              <a:defRPr sz="3400" b="1">
                <a:solidFill>
                  <a:srgbClr val="059669"/>
                </a:solidFill>
              </a:defRPr>
            </a:pPr>
            <a:r>
              <a:rPr sz="4000" dirty="0"/>
              <a:t>20 / 20</a:t>
            </a:r>
          </a:p>
          <a:p>
            <a:pPr>
              <a:defRPr sz="950" b="1">
                <a:solidFill>
                  <a:srgbClr val="1E293B"/>
                </a:solidFill>
              </a:defRPr>
            </a:pPr>
            <a:r>
              <a:rPr sz="1050" dirty="0"/>
              <a:t>Target: Recover All 20 Post-Backup Registrations in this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Observable State: Live Operations Dashboard (/admin)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" y="1787012"/>
            <a:ext cx="4498848" cy="3283976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rPr sz="1200" dirty="0"/>
              <a:t>REAL-TIME POSTGRESQL INTROSPECTION</a:t>
            </a:r>
          </a:p>
          <a:p>
            <a:r>
              <a:rPr b="1" dirty="0">
                <a:solidFill>
                  <a:srgbClr val="1E293B"/>
                </a:solidFill>
              </a:rPr>
              <a:t>• Live Query Execution: </a:t>
            </a:r>
            <a:r>
              <a:rPr b="0" dirty="0">
                <a:solidFill>
                  <a:srgbClr val="334155"/>
                </a:solidFill>
              </a:rPr>
              <a:t>The /admin endpoint queries PostgreSQL relations live on every HTTP request—nothing is mocked or hardcoded.
</a:t>
            </a:r>
          </a:p>
          <a:p>
            <a:r>
              <a:rPr b="1" dirty="0">
                <a:solidFill>
                  <a:srgbClr val="1E293B"/>
                </a:solidFill>
              </a:rPr>
              <a:t>• Real-Time Metrics: </a:t>
            </a:r>
            <a:r>
              <a:rPr b="0" dirty="0">
                <a:solidFill>
                  <a:srgbClr val="334155"/>
                </a:solidFill>
              </a:rPr>
              <a:t>Displays Total Bookings (120), Garba Bookings (40), and Event Capacity live.
</a:t>
            </a:r>
          </a:p>
          <a:p>
            <a:r>
              <a:rPr b="1" dirty="0">
                <a:solidFill>
                  <a:srgbClr val="1E293B"/>
                </a:solidFill>
              </a:rPr>
              <a:t>• Audit Trail Inspection: </a:t>
            </a:r>
            <a:r>
              <a:rPr b="0" dirty="0">
                <a:solidFill>
                  <a:srgbClr val="334155"/>
                </a:solidFill>
              </a:rPr>
              <a:t>Shows attendee IDs (</a:t>
            </a:r>
            <a:r>
              <a:rPr b="0" dirty="0" err="1">
                <a:solidFill>
                  <a:srgbClr val="334155"/>
                </a:solidFill>
              </a:rPr>
              <a:t>bk_seed</a:t>
            </a:r>
            <a:r>
              <a:rPr b="0" dirty="0">
                <a:solidFill>
                  <a:srgbClr val="334155"/>
                </a:solidFill>
              </a:rPr>
              <a:t>_... vs HTTP batch IDs) for verification.
</a:t>
            </a:r>
          </a:p>
          <a:p>
            <a:r>
              <a:rPr b="1" dirty="0">
                <a:solidFill>
                  <a:srgbClr val="DC2626"/>
                </a:solidFill>
              </a:rPr>
              <a:t>• Immediate Incident Proof: </a:t>
            </a:r>
            <a:r>
              <a:rPr b="0" dirty="0">
                <a:solidFill>
                  <a:srgbClr val="334155"/>
                </a:solidFill>
              </a:rPr>
              <a:t>When the DELETE runs, refreshing this dashboard immediately reports Garba 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85166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Operations Center showing post-recovery state (120/40).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Objectives &amp; Evaluation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1051560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8A1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09504" cy="133216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rPr sz="1050" dirty="0"/>
              <a:t>PROJECT FOCUS &amp; CORE RESEARCH QUESTION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rPr sz="1200" dirty="0"/>
              <a:t>“This project demonstrates how </a:t>
            </a:r>
            <a:r>
              <a:rPr sz="1200" dirty="0" err="1"/>
              <a:t>pgBackRest</a:t>
            </a:r>
            <a:r>
              <a:rPr sz="1200" dirty="0"/>
              <a:t> automates PostgreSQL database backups, WAL archiving, and disaster recovery. It explores restoring a database to a specific point in time after accidental data loss, evaluating recovery time and reliability without requiring cloud infrastructure.”</a:t>
            </a:r>
            <a:endParaRPr lang="en-US" sz="1200" dirty="0"/>
          </a:p>
          <a:p>
            <a:pPr>
              <a:defRPr sz="1050" b="1">
                <a:solidFill>
                  <a:srgbClr val="1E293B"/>
                </a:solidFill>
              </a:defRPr>
            </a:pPr>
            <a:endParaRPr lang="en-IN" sz="1200" dirty="0"/>
          </a:p>
          <a:p>
            <a:pPr>
              <a:defRPr sz="1050" b="1">
                <a:solidFill>
                  <a:srgbClr val="1E293B"/>
                </a:solidFill>
              </a:defRPr>
            </a:pP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4124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023800"/>
            <a:ext cx="2962656" cy="1409104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rPr sz="1200" dirty="0"/>
              <a:t>[O1] Automated Lab Platform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rPr sz="1200" dirty="0"/>
              <a:t>Build </a:t>
            </a:r>
            <a:r>
              <a:rPr sz="1200" dirty="0" err="1"/>
              <a:t>StagePass</a:t>
            </a:r>
            <a:r>
              <a:rPr sz="1200" dirty="0"/>
              <a:t> app, schema constraints, deterministic 100-row seed and realistic HTTP workload runner.</a:t>
            </a:r>
            <a:br>
              <a:rPr sz="1200" dirty="0"/>
            </a:br>
            <a:endParaRPr sz="1200" dirty="0"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rPr sz="1100" dirty="0"/>
              <a:t>Mapped: Slide 6 &amp;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7804" y="3023800"/>
            <a:ext cx="3136392" cy="1409104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rPr sz="1200" dirty="0"/>
              <a:t>[O2] Zero-Cloud Disaster Recovery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rPr sz="1200" dirty="0"/>
              <a:t>Evaluate Point-in-Time Recovery to a target point after data loss vs stopped filesystem snapshots.</a:t>
            </a:r>
            <a:br>
              <a:rPr sz="1200" dirty="0"/>
            </a:br>
            <a:endParaRPr sz="1200" dirty="0"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rPr sz="1100" dirty="0"/>
              <a:t>Mapped: Slide 9 &amp;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02168" y="3023800"/>
            <a:ext cx="2926080" cy="1409104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rPr sz="1200" dirty="0"/>
              <a:t>[O3] Recovery Time &amp; Reliability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rPr sz="1200" dirty="0"/>
              <a:t>Quantify Full vs Diff vs </a:t>
            </a:r>
            <a:r>
              <a:rPr sz="1200" dirty="0" err="1"/>
              <a:t>Incr</a:t>
            </a:r>
            <a:r>
              <a:rPr sz="1200" dirty="0"/>
              <a:t> backup duration, compressed footprint, and </a:t>
            </a:r>
            <a:r>
              <a:rPr sz="1200" dirty="0" err="1"/>
              <a:t>pg_dump</a:t>
            </a:r>
            <a:r>
              <a:rPr sz="1200" dirty="0"/>
              <a:t> baseline on 20k rows.</a:t>
            </a:r>
            <a:br>
              <a:rPr sz="1200" dirty="0"/>
            </a:br>
            <a:endParaRPr sz="1200" dirty="0"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rPr sz="1100" dirty="0"/>
              <a:t>Mapped: Slide 7 &amp;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Theoretical Foundation: Physical Snapshot vs WAL Replay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37260" y="1848567"/>
            <a:ext cx="4928616" cy="3160865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rPr sz="1200" dirty="0"/>
              <a:t>BASELINE: STOPPED RSYNC SNAPSHOT</a:t>
            </a:r>
          </a:p>
          <a:p>
            <a:r>
              <a:rPr b="1" dirty="0">
                <a:solidFill>
                  <a:srgbClr val="1E293B"/>
                </a:solidFill>
              </a:rPr>
              <a:t>• Consistent File State at Time T:
</a:t>
            </a:r>
            <a:r>
              <a:rPr sz="1200" b="0" dirty="0">
                <a:solidFill>
                  <a:srgbClr val="334155"/>
                </a:solidFill>
              </a:rPr>
              <a:t>PostgreSQL is stopped cleanly; PGDATA is mirrored with </a:t>
            </a:r>
            <a:r>
              <a:rPr sz="1200" b="0" dirty="0" err="1">
                <a:solidFill>
                  <a:srgbClr val="334155"/>
                </a:solidFill>
              </a:rPr>
              <a:t>rsync</a:t>
            </a:r>
            <a:r>
              <a:rPr sz="1200" b="0" dirty="0">
                <a:solidFill>
                  <a:srgbClr val="334155"/>
                </a:solidFill>
              </a:rPr>
              <a:t> -</a:t>
            </a:r>
            <a:r>
              <a:rPr sz="1200" b="0" dirty="0" err="1">
                <a:solidFill>
                  <a:srgbClr val="334155"/>
                </a:solidFill>
              </a:rPr>
              <a:t>aHAX</a:t>
            </a:r>
            <a:r>
              <a:rPr sz="1200" b="0" dirty="0">
                <a:solidFill>
                  <a:srgbClr val="334155"/>
                </a:solidFill>
              </a:rPr>
              <a:t> --delete. Guarantees consistency at snapshot time.
</a:t>
            </a:r>
          </a:p>
          <a:p>
            <a:r>
              <a:rPr b="1" dirty="0">
                <a:solidFill>
                  <a:srgbClr val="DC2626"/>
                </a:solidFill>
              </a:rPr>
              <a:t>• Zero Post-Snapshot Visibility:
</a:t>
            </a:r>
            <a:r>
              <a:rPr sz="1200" b="0" dirty="0">
                <a:solidFill>
                  <a:srgbClr val="334155"/>
                </a:solidFill>
              </a:rPr>
              <a:t>Without archived write-ahead logs, any transaction written at T + 1 is unrecoverable from this snapshot-only baseline without a separate WAL recovery mechanism.
</a:t>
            </a:r>
          </a:p>
          <a:p>
            <a:r>
              <a:rPr b="1" dirty="0">
                <a:solidFill>
                  <a:srgbClr val="1E293B"/>
                </a:solidFill>
              </a:rPr>
              <a:t>• Realistic Industry Scope:
</a:t>
            </a:r>
            <a:r>
              <a:rPr sz="1200" b="0" dirty="0" err="1">
                <a:solidFill>
                  <a:srgbClr val="334155"/>
                </a:solidFill>
              </a:rPr>
              <a:t>Rsync</a:t>
            </a:r>
            <a:r>
              <a:rPr sz="1200" b="0" dirty="0">
                <a:solidFill>
                  <a:srgbClr val="334155"/>
                </a:solidFill>
              </a:rPr>
              <a:t> with manual WAL archiving could do more, but enterprise teams frequently rely on storage snapshots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9944" y="1940899"/>
            <a:ext cx="4773168" cy="2976199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rPr sz="1200" dirty="0"/>
              <a:t>CHAMPION: PGBACKREST + CONTINUOUS WAL</a:t>
            </a:r>
          </a:p>
          <a:p>
            <a:r>
              <a:rPr b="1" dirty="0">
                <a:solidFill>
                  <a:srgbClr val="1E293B"/>
                </a:solidFill>
              </a:rPr>
              <a:t>• Automated Continuous Archiving:
</a:t>
            </a:r>
            <a:r>
              <a:rPr sz="1200" b="0" dirty="0">
                <a:solidFill>
                  <a:srgbClr val="334155"/>
                </a:solidFill>
              </a:rPr>
              <a:t>PostgreSQL </a:t>
            </a:r>
            <a:r>
              <a:rPr sz="1200" b="0" dirty="0" err="1">
                <a:solidFill>
                  <a:srgbClr val="334155"/>
                </a:solidFill>
              </a:rPr>
              <a:t>archive_command</a:t>
            </a:r>
            <a:r>
              <a:rPr sz="1200" b="0" dirty="0">
                <a:solidFill>
                  <a:srgbClr val="334155"/>
                </a:solidFill>
              </a:rPr>
              <a:t> pushes every 16 MB WAL segment and </a:t>
            </a:r>
            <a:r>
              <a:rPr sz="1200" b="0" dirty="0" err="1">
                <a:solidFill>
                  <a:srgbClr val="334155"/>
                </a:solidFill>
              </a:rPr>
              <a:t>archive_timeout</a:t>
            </a:r>
            <a:r>
              <a:rPr sz="1200" b="0" dirty="0">
                <a:solidFill>
                  <a:srgbClr val="334155"/>
                </a:solidFill>
              </a:rPr>
              <a:t> threshold outside PGDATA automatically.
</a:t>
            </a:r>
          </a:p>
          <a:p>
            <a:r>
              <a:rPr b="1" dirty="0">
                <a:solidFill>
                  <a:srgbClr val="059669"/>
                </a:solidFill>
              </a:rPr>
              <a:t>• WAL Replay Precision:
</a:t>
            </a:r>
            <a:r>
              <a:rPr sz="1200" b="0" dirty="0">
                <a:solidFill>
                  <a:srgbClr val="334155"/>
                </a:solidFill>
              </a:rPr>
              <a:t>Restores base physical backup, then replays WAL records up to a specific transaction, LSN, or named restore point.
</a:t>
            </a:r>
          </a:p>
          <a:p>
            <a:r>
              <a:rPr b="1" dirty="0">
                <a:solidFill>
                  <a:srgbClr val="1E293B"/>
                </a:solidFill>
              </a:rPr>
              <a:t>• Granular Disaster Recovery:
</a:t>
            </a:r>
            <a:r>
              <a:rPr sz="1200" b="0" dirty="0">
                <a:solidFill>
                  <a:srgbClr val="334155"/>
                </a:solidFill>
              </a:rPr>
              <a:t>Shifts recovery from 'restore to backup time' to 'recovery to a named restore point recorded in WAL'.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Architecture: Automated Local DR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2199395"/>
            <a:ext cx="2505456" cy="99617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rPr sz="1200" dirty="0" err="1"/>
              <a:t>StagePass</a:t>
            </a:r>
            <a:r>
              <a:rPr sz="1200" dirty="0"/>
              <a:t> App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rPr sz="1100" dirty="0" err="1"/>
              <a:t>FastAPI</a:t>
            </a:r>
            <a:r>
              <a:rPr sz="1100" dirty="0"/>
              <a:t> (:8000)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rPr sz="1200" dirty="0"/>
              <a:t>Request-scoped pool</a:t>
            </a:r>
            <a:br>
              <a:rPr sz="1200" dirty="0"/>
            </a:br>
            <a:r>
              <a:rPr sz="1200" dirty="0"/>
              <a:t>Survives DB downtime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11296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05201" y="2199395"/>
            <a:ext cx="2505456" cy="99617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rPr sz="1200" dirty="0"/>
              <a:t>PostgreSQL 17.11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rPr sz="1100" dirty="0"/>
              <a:t>Host :5433 | Container :5432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rPr sz="1200" dirty="0" err="1"/>
              <a:t>wal_level</a:t>
            </a:r>
            <a:r>
              <a:rPr sz="1200" dirty="0"/>
              <a:t>=replica</a:t>
            </a:r>
            <a:br>
              <a:rPr sz="1200" dirty="0"/>
            </a:br>
            <a:r>
              <a:rPr sz="1200" dirty="0" err="1"/>
              <a:t>archive_mode</a:t>
            </a:r>
            <a:r>
              <a:rPr sz="1200" dirty="0"/>
              <a:t>=on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81344" y="2199395"/>
            <a:ext cx="2505456" cy="99617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rPr sz="1200" dirty="0"/>
              <a:t>Dedicated Repo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rPr sz="1100" dirty="0"/>
              <a:t>Volume (/var/lib/</a:t>
            </a:r>
            <a:r>
              <a:rPr sz="1100" dirty="0" err="1"/>
              <a:t>pgbackrest</a:t>
            </a:r>
            <a:r>
              <a:rPr sz="1100" dirty="0"/>
              <a:t>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rPr sz="1200" dirty="0"/>
              <a:t>Isolated from PGDATA</a:t>
            </a:r>
            <a:br>
              <a:rPr sz="1200" dirty="0"/>
            </a:br>
            <a:r>
              <a:rPr sz="1200" dirty="0"/>
              <a:t>Full/Diff/</a:t>
            </a:r>
            <a:r>
              <a:rPr sz="1200" dirty="0" err="1"/>
              <a:t>Incr</a:t>
            </a:r>
            <a:r>
              <a:rPr sz="1200" dirty="0"/>
              <a:t> + 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1392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51392" y="2199395"/>
            <a:ext cx="2505456" cy="99617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rPr sz="1200" dirty="0"/>
              <a:t>Backup-Tools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rPr sz="1100" dirty="0"/>
              <a:t>Operational Sidecar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rPr sz="1200" dirty="0"/>
              <a:t>Guarded restore CLI</a:t>
            </a:r>
            <a:br>
              <a:rPr sz="1200" dirty="0"/>
            </a:br>
            <a:r>
              <a:rPr sz="1200" dirty="0"/>
              <a:t>LSN verification gates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840480"/>
            <a:ext cx="105156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840480"/>
            <a:ext cx="10515600" cy="133216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rPr dirty="0"/>
              <a:t>RELIABILITY WITHOUT CLOUD INFRASTRUCTURE</a:t>
            </a:r>
          </a:p>
          <a:p>
            <a:r>
              <a:rPr sz="1200" b="1" dirty="0">
                <a:solidFill>
                  <a:srgbClr val="1E293B"/>
                </a:solidFill>
              </a:rPr>
              <a:t>1. Local Volume Isolation: </a:t>
            </a:r>
            <a:r>
              <a:rPr sz="1200" b="0" dirty="0">
                <a:solidFill>
                  <a:srgbClr val="334155"/>
                </a:solidFill>
              </a:rPr>
              <a:t>PGDATA and </a:t>
            </a:r>
            <a:r>
              <a:rPr sz="1200" b="0" dirty="0" err="1">
                <a:solidFill>
                  <a:srgbClr val="334155"/>
                </a:solidFill>
              </a:rPr>
              <a:t>pgBackRest</a:t>
            </a:r>
            <a:r>
              <a:rPr sz="1200" b="0" dirty="0">
                <a:solidFill>
                  <a:srgbClr val="334155"/>
                </a:solidFill>
              </a:rPr>
              <a:t> repository live on distinct Docker volumes; restore never overwrites backup storage.
</a:t>
            </a:r>
          </a:p>
          <a:p>
            <a:r>
              <a:rPr sz="1200" b="1" dirty="0">
                <a:solidFill>
                  <a:srgbClr val="1E293B"/>
                </a:solidFill>
              </a:rPr>
              <a:t>2. Connection Resilience: </a:t>
            </a:r>
            <a:r>
              <a:rPr sz="1200" b="0" dirty="0" err="1">
                <a:solidFill>
                  <a:srgbClr val="334155"/>
                </a:solidFill>
              </a:rPr>
              <a:t>FastAPI</a:t>
            </a:r>
            <a:r>
              <a:rPr sz="1200" b="0" dirty="0">
                <a:solidFill>
                  <a:srgbClr val="334155"/>
                </a:solidFill>
              </a:rPr>
              <a:t> uses scoped sessions; when DB restarts during restore, web requests fail gracefully and reconnect cleanly.
</a:t>
            </a:r>
          </a:p>
          <a:p>
            <a:r>
              <a:rPr sz="1200" b="1" dirty="0">
                <a:solidFill>
                  <a:srgbClr val="1E293B"/>
                </a:solidFill>
              </a:rPr>
              <a:t>3. Automated Guard Scripts: </a:t>
            </a:r>
            <a:r>
              <a:rPr sz="1200" b="0" dirty="0">
                <a:solidFill>
                  <a:srgbClr val="334155"/>
                </a:solidFill>
              </a:rPr>
              <a:t>Strict assertions verify stanza health, LSN archival status, and container state before triggering commands.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Automation &amp; Self-Documenting Named PITR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5152" y="1934997"/>
            <a:ext cx="3383280" cy="1570686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5B1A2E"/>
                </a:solidFill>
              </a:defRPr>
            </a:pPr>
            <a:r>
              <a:rPr sz="1200" dirty="0"/>
              <a:t>FULL BACKUP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rPr sz="2400" dirty="0"/>
              <a:t>10.6 s  |  4.50 MiB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Footprint: Base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rPr sz="1100" dirty="0"/>
              <a:t>Individual backup: 4.50 MiB. Cumulative repo: 11.58 MiB (12.1 MB decimal; du -sb). Complete physical copy + active WAL.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01312" y="1925853"/>
            <a:ext cx="3383280" cy="1570686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8A13C"/>
                </a:solidFill>
              </a:defRPr>
            </a:pPr>
            <a:r>
              <a:rPr sz="1200" dirty="0"/>
              <a:t>DIFFERENTIAL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rPr sz="2400" dirty="0"/>
              <a:t>2.5 s  |  697.7 KiB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Footprint: 84.5%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rPr sz="1100" dirty="0"/>
              <a:t>Individual backup: 697.7 KiB. Cumulative repo: 13.67 MiB (14.3 MB decimal). Copies pages modified since last Full.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73568" y="1925853"/>
            <a:ext cx="3383280" cy="1570686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</a:defRPr>
            </a:pPr>
            <a:r>
              <a:rPr sz="1200" dirty="0"/>
              <a:t>INCREMENTAL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rPr sz="2400" dirty="0"/>
              <a:t>3.0 s  |  635.8 KiB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Footprint: 85.9%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rPr sz="1100" dirty="0"/>
              <a:t>Individual backup: 635.8 KiB. Cumulative repo: 15.53 MiB (16.3 MB decimal). Copies changes since preceding backup.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886200"/>
            <a:ext cx="10515600" cy="184708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8200" y="3886200"/>
            <a:ext cx="10515600" cy="1709186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rPr sz="1100" dirty="0"/>
              <a:t>AUTOMATED POINT-IN-TIME RECOVERY TO TARGET POINT</a:t>
            </a:r>
          </a:p>
          <a:p>
            <a:r>
              <a:rPr b="1" dirty="0">
                <a:solidFill>
                  <a:srgbClr val="1E293B"/>
                </a:solidFill>
              </a:rPr>
              <a:t>• Elimination of Clock Skew: </a:t>
            </a:r>
            <a:r>
              <a:rPr b="0" dirty="0">
                <a:solidFill>
                  <a:srgbClr val="334155"/>
                </a:solidFill>
              </a:rPr>
              <a:t>Plants a named restore point: SELECT </a:t>
            </a:r>
            <a:r>
              <a:rPr b="0" dirty="0" err="1">
                <a:solidFill>
                  <a:srgbClr val="334155"/>
                </a:solidFill>
              </a:rPr>
              <a:t>pg_create_restore_point</a:t>
            </a:r>
            <a:r>
              <a:rPr b="0" dirty="0">
                <a:solidFill>
                  <a:srgbClr val="334155"/>
                </a:solidFill>
              </a:rPr>
              <a:t>('stagepass_before_incident_pgbackrest_run2');</a:t>
            </a:r>
          </a:p>
          <a:p>
            <a:r>
              <a:rPr b="1" dirty="0">
                <a:solidFill>
                  <a:srgbClr val="059669"/>
                </a:solidFill>
              </a:rPr>
              <a:t>• Verified WAL Archival Gate: </a:t>
            </a:r>
            <a:r>
              <a:rPr b="0" dirty="0">
                <a:solidFill>
                  <a:srgbClr val="334155"/>
                </a:solidFill>
              </a:rPr>
              <a:t>Timeline-aware check verifies WAL segment reached repository disk before proceeding with restore.</a:t>
            </a:r>
          </a:p>
          <a:p>
            <a:r>
              <a:rPr b="1" dirty="0">
                <a:solidFill>
                  <a:srgbClr val="1E293B"/>
                </a:solidFill>
              </a:rPr>
              <a:t>• Precise Target Recovery: </a:t>
            </a:r>
            <a:r>
              <a:rPr b="0" dirty="0" err="1">
                <a:solidFill>
                  <a:srgbClr val="334155"/>
                </a:solidFill>
              </a:rPr>
              <a:t>pgbackrest</a:t>
            </a:r>
            <a:r>
              <a:rPr b="0" dirty="0">
                <a:solidFill>
                  <a:srgbClr val="334155"/>
                </a:solidFill>
              </a:rPr>
              <a:t> restore --type=name --target=stagepass_before_incident_pgbackrest_run2 --target-action=promote replays WAL to point.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Controls &amp; Repeatability Rigor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15113"/>
            <a:ext cx="4754880" cy="3560975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rPr sz="1200" dirty="0"/>
              <a:t>METHODOLOGICAL GUARDS &amp; INVARIANTS</a:t>
            </a:r>
          </a:p>
          <a:p>
            <a:r>
              <a:rPr b="1" dirty="0">
                <a:solidFill>
                  <a:srgbClr val="1E293B"/>
                </a:solidFill>
              </a:rPr>
              <a:t>• Deterministic 100-Row Seed:
</a:t>
            </a:r>
            <a:r>
              <a:rPr sz="1200" b="0" dirty="0">
                <a:solidFill>
                  <a:srgbClr val="334155"/>
                </a:solidFill>
              </a:rPr>
              <a:t>Fixed distribution (20 Garba, 50 TechSummit, 30 </a:t>
            </a:r>
            <a:r>
              <a:rPr sz="1200" b="0" dirty="0" err="1">
                <a:solidFill>
                  <a:srgbClr val="334155"/>
                </a:solidFill>
              </a:rPr>
              <a:t>MusicFest</a:t>
            </a:r>
            <a:r>
              <a:rPr sz="1200" b="0" dirty="0">
                <a:solidFill>
                  <a:srgbClr val="334155"/>
                </a:solidFill>
              </a:rPr>
              <a:t>) seeded identically for both scenarios.
</a:t>
            </a:r>
          </a:p>
          <a:p>
            <a:r>
              <a:rPr b="1" dirty="0">
                <a:solidFill>
                  <a:srgbClr val="1E293B"/>
                </a:solidFill>
              </a:rPr>
              <a:t>• Identical 20-HTTP Workload:
</a:t>
            </a:r>
            <a:r>
              <a:rPr sz="1200" b="0" dirty="0">
                <a:solidFill>
                  <a:srgbClr val="334155"/>
                </a:solidFill>
              </a:rPr>
              <a:t>20 real HTTP registration payloads executed via scripts/workload.py against /</a:t>
            </a:r>
            <a:r>
              <a:rPr sz="1200" b="0" dirty="0" err="1">
                <a:solidFill>
                  <a:srgbClr val="334155"/>
                </a:solidFill>
              </a:rPr>
              <a:t>api</a:t>
            </a:r>
            <a:r>
              <a:rPr sz="1200" b="0" dirty="0">
                <a:solidFill>
                  <a:srgbClr val="334155"/>
                </a:solidFill>
              </a:rPr>
              <a:t>/events/</a:t>
            </a:r>
            <a:r>
              <a:rPr sz="1200" b="0" dirty="0" err="1">
                <a:solidFill>
                  <a:srgbClr val="334155"/>
                </a:solidFill>
              </a:rPr>
              <a:t>kjsce</a:t>
            </a:r>
            <a:r>
              <a:rPr sz="1200" b="0" dirty="0">
                <a:solidFill>
                  <a:srgbClr val="334155"/>
                </a:solidFill>
              </a:rPr>
              <a:t>-garba-eve/register.
</a:t>
            </a:r>
          </a:p>
          <a:p>
            <a:r>
              <a:rPr b="1" dirty="0">
                <a:solidFill>
                  <a:srgbClr val="1E293B"/>
                </a:solidFill>
              </a:rPr>
              <a:t>• Two-Phase Replication (Run 1 &amp; Run 2):
</a:t>
            </a:r>
            <a:r>
              <a:rPr sz="1200" b="0" dirty="0">
                <a:solidFill>
                  <a:srgbClr val="334155"/>
                </a:solidFill>
              </a:rPr>
              <a:t>Every test run twice from scratch with isolated run IDs, raw CSV logs, and terminal recordings.
</a:t>
            </a:r>
          </a:p>
          <a:p>
            <a:r>
              <a:rPr b="1" dirty="0">
                <a:solidFill>
                  <a:srgbClr val="059669"/>
                </a:solidFill>
              </a:rPr>
              <a:t>• Automated Test Suite:
</a:t>
            </a:r>
            <a:r>
              <a:rPr sz="1200" b="0" dirty="0">
                <a:solidFill>
                  <a:srgbClr val="334155"/>
                </a:solidFill>
              </a:rPr>
              <a:t>8 </a:t>
            </a:r>
            <a:r>
              <a:rPr sz="1200" b="0" dirty="0" err="1">
                <a:solidFill>
                  <a:srgbClr val="334155"/>
                </a:solidFill>
              </a:rPr>
              <a:t>pytest</a:t>
            </a:r>
            <a:r>
              <a:rPr sz="1200" b="0" dirty="0">
                <a:solidFill>
                  <a:srgbClr val="334155"/>
                </a:solidFill>
              </a:rPr>
              <a:t> tests validate database constraints, transaction isolation, and health endpoints.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78308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Home UI: 12 OCT badge, live pill, and booking modal.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A: Stopped Rsync Snapshot Alone (Data Loss)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6404" y="1727603"/>
            <a:ext cx="5577840" cy="3530197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rPr sz="1200" dirty="0"/>
              <a:t>EXECUTION TIMELINE &amp; DATA LOSS REASONING</a:t>
            </a:r>
          </a:p>
          <a:p>
            <a:r>
              <a:rPr sz="1600" b="1" dirty="0">
                <a:solidFill>
                  <a:srgbClr val="1E293B"/>
                </a:solidFill>
              </a:rPr>
              <a:t>1. Baseline Snapshot Taken: </a:t>
            </a:r>
            <a:r>
              <a:rPr sz="1600" b="0" dirty="0">
                <a:solidFill>
                  <a:srgbClr val="334155"/>
                </a:solidFill>
              </a:rPr>
              <a:t>Cluster stopped, </a:t>
            </a:r>
            <a:r>
              <a:rPr sz="1600" b="0" dirty="0" err="1">
                <a:solidFill>
                  <a:srgbClr val="334155"/>
                </a:solidFill>
              </a:rPr>
              <a:t>rsync</a:t>
            </a:r>
            <a:r>
              <a:rPr sz="1600" b="0" dirty="0">
                <a:solidFill>
                  <a:srgbClr val="334155"/>
                </a:solidFill>
              </a:rPr>
              <a:t> snapshot created at 100 bookings (20 Garba).</a:t>
            </a:r>
          </a:p>
          <a:p>
            <a:r>
              <a:rPr sz="1600" b="1" dirty="0">
                <a:solidFill>
                  <a:srgbClr val="1E293B"/>
                </a:solidFill>
              </a:rPr>
              <a:t>2. Live Traffic Ingestion: </a:t>
            </a:r>
            <a:r>
              <a:rPr sz="1600" b="0" dirty="0">
                <a:solidFill>
                  <a:srgbClr val="334155"/>
                </a:solidFill>
              </a:rPr>
              <a:t>20 valid attendees register via HTTP; count climbs to 120 (40 Garba).</a:t>
            </a:r>
          </a:p>
          <a:p>
            <a:r>
              <a:rPr sz="1600" b="1" dirty="0">
                <a:solidFill>
                  <a:srgbClr val="DC2626"/>
                </a:solidFill>
              </a:rPr>
              <a:t>3. Operator Disaster: </a:t>
            </a:r>
            <a:r>
              <a:rPr sz="1600" b="0" dirty="0">
                <a:solidFill>
                  <a:srgbClr val="334155"/>
                </a:solidFill>
              </a:rPr>
              <a:t>DELETE query wipes all Garba registrations; count plunges to 80.</a:t>
            </a:r>
          </a:p>
          <a:p>
            <a:r>
              <a:rPr sz="1600" b="1" dirty="0">
                <a:solidFill>
                  <a:srgbClr val="1E293B"/>
                </a:solidFill>
              </a:rPr>
              <a:t>4. Disaster Recovery Restored: </a:t>
            </a:r>
            <a:r>
              <a:rPr sz="1600" b="0" dirty="0">
                <a:solidFill>
                  <a:srgbClr val="334155"/>
                </a:solidFill>
              </a:rPr>
              <a:t>Cluster stopped, </a:t>
            </a:r>
            <a:r>
              <a:rPr sz="1600" b="0" dirty="0" err="1">
                <a:solidFill>
                  <a:srgbClr val="334155"/>
                </a:solidFill>
              </a:rPr>
              <a:t>rsync</a:t>
            </a:r>
            <a:r>
              <a:rPr sz="1600" b="0" dirty="0">
                <a:solidFill>
                  <a:srgbClr val="334155"/>
                </a:solidFill>
              </a:rPr>
              <a:t> snapshot restored, PostgreSQL restarted.
</a:t>
            </a:r>
          </a:p>
          <a:p>
            <a:r>
              <a:rPr sz="1800" b="1" dirty="0">
                <a:solidFill>
                  <a:srgbClr val="DC2626"/>
                </a:solidFill>
              </a:rPr>
              <a:t>• Final Evaluated State: </a:t>
            </a:r>
            <a:r>
              <a:rPr sz="1800" b="0" dirty="0">
                <a:solidFill>
                  <a:srgbClr val="334155"/>
                </a:solidFill>
              </a:rPr>
              <a:t>100 Total / 20 Garba. Exactly ZERO of the 20 post-snapshot registrations survived (reproduced twice).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39712" y="1900875"/>
            <a:ext cx="4709160" cy="1273169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</a:defRPr>
            </a:pPr>
            <a:r>
              <a:rPr sz="1050" dirty="0"/>
              <a:t>POST-SNAPSHOT REGISTRATIONS RECOVERED</a:t>
            </a:r>
          </a:p>
          <a:p>
            <a:pPr>
              <a:spcAft>
                <a:spcPts val="200"/>
              </a:spcAft>
              <a:defRPr sz="3600" b="1">
                <a:solidFill>
                  <a:srgbClr val="DC2626"/>
                </a:solidFill>
              </a:defRPr>
            </a:pPr>
            <a:r>
              <a:rPr sz="4400" dirty="0"/>
              <a:t>0 / 20 (0</a:t>
            </a:r>
            <a:r>
              <a:rPr lang="en-IN" sz="4400" dirty="0"/>
              <a:t>%)</a:t>
            </a:r>
            <a:endParaRPr sz="4400" dirty="0"/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rPr sz="1100" dirty="0"/>
              <a:t>20 Legitimate Registrations Lost (RPO Breach)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39712" y="3629201"/>
            <a:ext cx="4709160" cy="1565557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MEASURED TIME METRICS (RUN 1 &amp; 2)</a:t>
            </a:r>
          </a:p>
          <a:p>
            <a:r>
              <a:rPr sz="1200" b="1" dirty="0">
                <a:solidFill>
                  <a:srgbClr val="1E293B"/>
                </a:solidFill>
              </a:rPr>
              <a:t>• Snapshot Duration: </a:t>
            </a:r>
            <a:r>
              <a:rPr sz="1200" b="0" dirty="0">
                <a:solidFill>
                  <a:srgbClr val="334155"/>
                </a:solidFill>
              </a:rPr>
              <a:t>0.5 s – 1.1 s (local disk mirror)
</a:t>
            </a:r>
          </a:p>
          <a:p>
            <a:r>
              <a:rPr sz="1200" b="1" dirty="0">
                <a:solidFill>
                  <a:srgbClr val="1E293B"/>
                </a:solidFill>
              </a:rPr>
              <a:t>• Recovery Time (RTO): </a:t>
            </a:r>
            <a:r>
              <a:rPr sz="1200" b="0" dirty="0">
                <a:solidFill>
                  <a:srgbClr val="334155"/>
                </a:solidFill>
              </a:rPr>
              <a:t>Run 1 = 15.0 s  |  Run 2 = 10.6 s
</a:t>
            </a:r>
          </a:p>
          <a:p>
            <a:r>
              <a:rPr sz="1200" b="1" dirty="0">
                <a:solidFill>
                  <a:srgbClr val="DC2626"/>
                </a:solidFill>
              </a:rPr>
              <a:t>• Recovery Point (RPO): </a:t>
            </a:r>
            <a:r>
              <a:rPr sz="1200" b="0" dirty="0">
                <a:solidFill>
                  <a:srgbClr val="334155"/>
                </a:solidFill>
              </a:rPr>
              <a:t>All 20 post-snapshot registrations lost; baseline lacks WAL replay.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B: pgBackRest with Archived WAL (Target Reached)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46404" y="1809649"/>
            <a:ext cx="5577840" cy="3330142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rPr dirty="0"/>
              <a:t>EXECUTION TIMELINE &amp; RECOVERY LOGIC</a:t>
            </a:r>
          </a:p>
          <a:p>
            <a:r>
              <a:rPr b="1" dirty="0">
                <a:solidFill>
                  <a:srgbClr val="1E293B"/>
                </a:solidFill>
              </a:rPr>
              <a:t>1. Online Base Backup: </a:t>
            </a:r>
            <a:r>
              <a:rPr b="0" dirty="0" err="1">
                <a:solidFill>
                  <a:srgbClr val="334155"/>
                </a:solidFill>
              </a:rPr>
              <a:t>pgBackRest</a:t>
            </a:r>
            <a:r>
              <a:rPr b="0" dirty="0">
                <a:solidFill>
                  <a:srgbClr val="334155"/>
                </a:solidFill>
              </a:rPr>
              <a:t> creates hot physical backup at 100 bookings.</a:t>
            </a:r>
          </a:p>
          <a:p>
            <a:r>
              <a:rPr b="1" dirty="0">
                <a:solidFill>
                  <a:srgbClr val="1E293B"/>
                </a:solidFill>
              </a:rPr>
              <a:t>2. Live Traffic &amp; Named Restore Point: </a:t>
            </a:r>
            <a:r>
              <a:rPr b="0" dirty="0">
                <a:solidFill>
                  <a:srgbClr val="334155"/>
                </a:solidFill>
              </a:rPr>
              <a:t>20 attendees register (120 total / 40 Garba). Restore point stagepass_before_incident_pgbackrest_run2 planted.</a:t>
            </a:r>
          </a:p>
          <a:p>
            <a:r>
              <a:rPr b="1" dirty="0">
                <a:solidFill>
                  <a:srgbClr val="059669"/>
                </a:solidFill>
              </a:rPr>
              <a:t>3. Verified Archival Guard: </a:t>
            </a:r>
            <a:r>
              <a:rPr b="0" dirty="0">
                <a:solidFill>
                  <a:srgbClr val="334155"/>
                </a:solidFill>
              </a:rPr>
              <a:t>Timeline-aware check verifies WAL segment reached repository disk.</a:t>
            </a:r>
          </a:p>
          <a:p>
            <a:r>
              <a:rPr b="1" dirty="0">
                <a:solidFill>
                  <a:srgbClr val="1E293B"/>
                </a:solidFill>
              </a:rPr>
              <a:t>4. Disaster &amp; Target PITR Restore: </a:t>
            </a:r>
            <a:r>
              <a:rPr b="0" dirty="0">
                <a:solidFill>
                  <a:srgbClr val="334155"/>
                </a:solidFill>
              </a:rPr>
              <a:t>DELETE wipes Garba. </a:t>
            </a:r>
            <a:r>
              <a:rPr b="0" dirty="0" err="1">
                <a:solidFill>
                  <a:srgbClr val="334155"/>
                </a:solidFill>
              </a:rPr>
              <a:t>pgBackRest</a:t>
            </a:r>
            <a:r>
              <a:rPr b="0" dirty="0">
                <a:solidFill>
                  <a:srgbClr val="334155"/>
                </a:solidFill>
              </a:rPr>
              <a:t> restores base backup, rolls forward WAL to target, and promotes.
</a:t>
            </a:r>
          </a:p>
          <a:p>
            <a:r>
              <a:rPr sz="1600" b="1" dirty="0">
                <a:solidFill>
                  <a:srgbClr val="059669"/>
                </a:solidFill>
              </a:rPr>
              <a:t>• Final Evaluated State: </a:t>
            </a:r>
            <a:r>
              <a:rPr sz="1600" b="0" dirty="0">
                <a:solidFill>
                  <a:srgbClr val="334155"/>
                </a:solidFill>
              </a:rPr>
              <a:t>120 Total / 40 Garba. All 20/20 tested post-backup registrations recovered!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34556" y="1900875"/>
            <a:ext cx="4709160" cy="1273169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59669"/>
                </a:solidFill>
              </a:defRPr>
            </a:pPr>
            <a:r>
              <a:rPr sz="1050" dirty="0"/>
              <a:t>POST-BACKUP REGISTRATIONS RECOVERED</a:t>
            </a:r>
          </a:p>
          <a:p>
            <a:pPr>
              <a:spcAft>
                <a:spcPts val="200"/>
              </a:spcAft>
              <a:defRPr sz="3600" b="1">
                <a:solidFill>
                  <a:srgbClr val="059669"/>
                </a:solidFill>
              </a:defRPr>
            </a:pPr>
            <a:r>
              <a:rPr sz="4400" dirty="0"/>
              <a:t>20 / 20 (100%)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rPr sz="1100" dirty="0"/>
              <a:t>All 20 Tested Registrations Recovered at Target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3639275"/>
            <a:ext cx="4709160" cy="1527085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PERFORMANCE &amp; AUDIT VALIDATION</a:t>
            </a:r>
          </a:p>
          <a:p>
            <a:r>
              <a:rPr sz="1200" b="1" dirty="0">
                <a:solidFill>
                  <a:srgbClr val="1E293B"/>
                </a:solidFill>
              </a:rPr>
              <a:t>• Recovery Time (RTO): </a:t>
            </a:r>
            <a:r>
              <a:rPr sz="1200" b="0" dirty="0">
                <a:solidFill>
                  <a:srgbClr val="334155"/>
                </a:solidFill>
              </a:rPr>
              <a:t>Run 1 = 17.6 s (+2.6 s delta) | Run 2 = 20.6 s (+10.0 s delta)</a:t>
            </a:r>
          </a:p>
          <a:p>
            <a:r>
              <a:rPr sz="1200" b="1" dirty="0">
                <a:solidFill>
                  <a:srgbClr val="5B1A2E"/>
                </a:solidFill>
              </a:rPr>
              <a:t>• Engine Log Proof: </a:t>
            </a:r>
            <a:r>
              <a:rPr sz="1050" b="1" dirty="0">
                <a:solidFill>
                  <a:srgbClr val="380C17"/>
                </a:solidFill>
              </a:rPr>
              <a:t>'recovery stopping at restore point "stagepass_before_incident_pgbackrest_run2"'</a:t>
            </a:r>
          </a:p>
          <a:p>
            <a:r>
              <a:rPr sz="1200" b="1" dirty="0">
                <a:solidFill>
                  <a:srgbClr val="1E293B"/>
                </a:solidFill>
              </a:rPr>
              <a:t>• Recovery Point (RPO): </a:t>
            </a:r>
            <a:r>
              <a:rPr sz="1100" b="0" dirty="0">
                <a:solidFill>
                  <a:srgbClr val="334155"/>
                </a:solidFill>
              </a:rPr>
              <a:t>Experiment achieved zero loss; production RPO depends on WAL lag.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Evaluation: Recovery Time &amp; Reliability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3375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covery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783080"/>
            <a:ext cx="3154680" cy="2057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25696" y="1691640"/>
            <a:ext cx="33375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ackup_dur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136" y="1783080"/>
            <a:ext cx="3154680" cy="2057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10144" y="1691640"/>
            <a:ext cx="33375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ackup_sto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3" y="1783080"/>
            <a:ext cx="315468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" y="4069080"/>
            <a:ext cx="10515600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4069080"/>
            <a:ext cx="10515600" cy="1278299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rPr sz="1200" dirty="0"/>
              <a:t>EMPIRICAL RECOVERY TIME &amp; STORAGE METRICS (MEASURED DATA)</a:t>
            </a:r>
          </a:p>
          <a:p>
            <a:r>
              <a:rPr sz="1100" b="1" dirty="0">
                <a:solidFill>
                  <a:srgbClr val="1E293B"/>
                </a:solidFill>
              </a:rPr>
              <a:t>• Recovery Time Objective (RTO): </a:t>
            </a:r>
            <a:r>
              <a:rPr sz="1100" b="0" dirty="0">
                <a:solidFill>
                  <a:srgbClr val="334155"/>
                </a:solidFill>
              </a:rPr>
              <a:t>Snapshot restores in 10.6 s &amp; 15.0 s vs </a:t>
            </a:r>
            <a:r>
              <a:rPr sz="1100" b="0" dirty="0" err="1">
                <a:solidFill>
                  <a:srgbClr val="334155"/>
                </a:solidFill>
              </a:rPr>
              <a:t>pgBackRest</a:t>
            </a:r>
            <a:r>
              <a:rPr sz="1100" b="0" dirty="0">
                <a:solidFill>
                  <a:srgbClr val="334155"/>
                </a:solidFill>
              </a:rPr>
              <a:t> in 17.6 s &amp; 20.6 s (observed differences: +2.6 s in Run 1 and +10.0 s in Run 2 for full WAL replay).</a:t>
            </a:r>
          </a:p>
          <a:p>
            <a:r>
              <a:rPr sz="1100" b="1" dirty="0">
                <a:solidFill>
                  <a:srgbClr val="1E293B"/>
                </a:solidFill>
              </a:rPr>
              <a:t>• Storage &amp; Backup Modes (20k rows): </a:t>
            </a:r>
            <a:r>
              <a:rPr sz="1100" b="0" dirty="0">
                <a:solidFill>
                  <a:srgbClr val="334155"/>
                </a:solidFill>
              </a:rPr>
              <a:t>The benchmark table occupied approximately 3.9 MiB of PostgreSQL relation storage; </a:t>
            </a:r>
            <a:r>
              <a:rPr sz="1100" b="0" dirty="0" err="1">
                <a:solidFill>
                  <a:srgbClr val="334155"/>
                </a:solidFill>
              </a:rPr>
              <a:t>pgBackRest</a:t>
            </a:r>
            <a:r>
              <a:rPr sz="1100" b="0" dirty="0">
                <a:solidFill>
                  <a:srgbClr val="334155"/>
                </a:solidFill>
              </a:rPr>
              <a:t> reported a 33.5 MB database size for the cluster used in the backup measurement. Individual backups: Full = 4.50 MiB, Diff = 697.7 KiB, </a:t>
            </a:r>
            <a:r>
              <a:rPr sz="1100" b="0" dirty="0" err="1">
                <a:solidFill>
                  <a:srgbClr val="334155"/>
                </a:solidFill>
              </a:rPr>
              <a:t>Incr</a:t>
            </a:r>
            <a:r>
              <a:rPr sz="1100" b="0" dirty="0">
                <a:solidFill>
                  <a:srgbClr val="334155"/>
                </a:solidFill>
              </a:rPr>
              <a:t> = 635.8 KiB (cumulative repo totals via du -sb: 11.58 MiB [12.1 MB decimal], 13.67 MiB [14.3 MB decimal], 15.53 MiB [16.3 MB decimal]).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Automated DR without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948594"/>
            <a:ext cx="5120640" cy="2960811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rPr dirty="0"/>
              <a:t>CORE PROJECT FINDINGS</a:t>
            </a:r>
          </a:p>
          <a:p>
            <a:r>
              <a:rPr b="1" dirty="0">
                <a:solidFill>
                  <a:srgbClr val="1E293B"/>
                </a:solidFill>
              </a:rPr>
              <a:t>1. Controlled Experiment Success:
</a:t>
            </a:r>
            <a:r>
              <a:rPr sz="1200" b="0" dirty="0">
                <a:solidFill>
                  <a:srgbClr val="334155"/>
                </a:solidFill>
              </a:rPr>
              <a:t>In both recorded PITR trials, all 20 post-backup registrations were recovered by restoring to the verified pre-incident named restore point.
</a:t>
            </a:r>
          </a:p>
          <a:p>
            <a:r>
              <a:rPr b="1" dirty="0">
                <a:solidFill>
                  <a:srgbClr val="1E293B"/>
                </a:solidFill>
              </a:rPr>
              <a:t>2. Production RPO Qualification:
</a:t>
            </a:r>
            <a:r>
              <a:rPr sz="1200" b="0" dirty="0">
                <a:solidFill>
                  <a:srgbClr val="334155"/>
                </a:solidFill>
              </a:rPr>
              <a:t>This experiment achieved zero loss of the 20 tested registrations; production RPO depends on WAL archival and retention.
</a:t>
            </a:r>
          </a:p>
          <a:p>
            <a:r>
              <a:rPr b="1" dirty="0">
                <a:solidFill>
                  <a:srgbClr val="5B1A2E"/>
                </a:solidFill>
              </a:rPr>
              <a:t>3. RTO &amp; Storage Trade-offs:
</a:t>
            </a:r>
            <a:r>
              <a:rPr sz="1200" b="0" dirty="0">
                <a:solidFill>
                  <a:srgbClr val="334155"/>
                </a:solidFill>
              </a:rPr>
              <a:t>Observed PITR recovery times of 17.6s &amp; 20.6s (+2.6s &amp; +10.0s over snapshot). Single-trial backup modes cut routine footprint by &gt;84%.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36208" y="2148203"/>
            <a:ext cx="5120640" cy="2653034"/>
          </a:xfrm>
          <a:prstGeom prst="rect">
            <a:avLst/>
          </a:prstGeom>
          <a:noFill/>
        </p:spPr>
        <p:txBody>
          <a:bodyPr wrap="square" lIns="109728" tIns="109728" r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rPr dirty="0"/>
              <a:t>PRIMARY REFERENCES &amp; REPRODUCIBILITY</a:t>
            </a:r>
          </a:p>
          <a:p>
            <a:r>
              <a:rPr sz="1050" b="1" dirty="0">
                <a:solidFill>
                  <a:srgbClr val="1E293B"/>
                </a:solidFill>
              </a:rPr>
              <a:t>[1] </a:t>
            </a:r>
            <a:r>
              <a:rPr sz="1050" b="1" dirty="0" err="1">
                <a:solidFill>
                  <a:srgbClr val="1E293B"/>
                </a:solidFill>
              </a:rPr>
              <a:t>pgBackRest</a:t>
            </a:r>
            <a:r>
              <a:rPr sz="1050" b="1" dirty="0">
                <a:solidFill>
                  <a:srgbClr val="1E293B"/>
                </a:solidFill>
              </a:rPr>
              <a:t> User Guide &amp; Architecture (v2.59.3)
</a:t>
            </a:r>
            <a:r>
              <a:rPr sz="1000" b="0" dirty="0">
                <a:solidFill>
                  <a:srgbClr val="64748B"/>
                </a:solidFill>
              </a:rPr>
              <a:t>https://pgbackrest.org/user-guide.html
</a:t>
            </a:r>
          </a:p>
          <a:p>
            <a:r>
              <a:rPr sz="1050" b="1" dirty="0">
                <a:solidFill>
                  <a:srgbClr val="1E293B"/>
                </a:solidFill>
              </a:rPr>
              <a:t>[2] PostgreSQL 17 Backup and Restore Documentation
</a:t>
            </a:r>
            <a:r>
              <a:rPr sz="1000" b="0" dirty="0">
                <a:solidFill>
                  <a:srgbClr val="64748B"/>
                </a:solidFill>
              </a:rPr>
              <a:t>https://www.postgresql.org/docs/17/backup.html
</a:t>
            </a:r>
          </a:p>
          <a:p>
            <a:r>
              <a:rPr sz="1050" b="1" dirty="0">
                <a:solidFill>
                  <a:srgbClr val="1E293B"/>
                </a:solidFill>
              </a:rPr>
              <a:t>[3] Continuous Archiving and PITR (Chapter 25)
</a:t>
            </a:r>
            <a:r>
              <a:rPr sz="1000" b="0" dirty="0">
                <a:solidFill>
                  <a:srgbClr val="64748B"/>
                </a:solidFill>
              </a:rPr>
              <a:t>https://www.postgresql.org/docs/17/continuous-archiving.html
</a:t>
            </a:r>
          </a:p>
          <a:p>
            <a:r>
              <a:rPr sz="1100" b="1" dirty="0">
                <a:solidFill>
                  <a:srgbClr val="5B1A2E"/>
                </a:solidFill>
              </a:rPr>
              <a:t>• Reproducibility: </a:t>
            </a:r>
            <a:r>
              <a:rPr sz="1050" b="0" dirty="0">
                <a:solidFill>
                  <a:srgbClr val="334155"/>
                </a:solidFill>
              </a:rPr>
              <a:t>All scripts, </a:t>
            </a:r>
            <a:r>
              <a:rPr sz="1050" b="0" dirty="0" err="1">
                <a:solidFill>
                  <a:srgbClr val="334155"/>
                </a:solidFill>
              </a:rPr>
              <a:t>Makefile</a:t>
            </a:r>
            <a:r>
              <a:rPr sz="1050" b="0" dirty="0">
                <a:solidFill>
                  <a:srgbClr val="334155"/>
                </a:solidFill>
              </a:rPr>
              <a:t> targets, and raw CSV runs available in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omaiya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2271</Words>
  <Application>Microsoft Office PowerPoint</Application>
  <PresentationFormat>Widescreen</PresentationFormat>
  <Paragraphs>141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Fira Sans</vt:lpstr>
      <vt:lpstr>Marcellus</vt:lpstr>
      <vt:lpstr>Calibri</vt:lpstr>
      <vt:lpstr>Office Theme</vt:lpstr>
      <vt:lpstr>Automated PostgreSQL Backup and Point-in-Time Recovery using pgBackRest</vt:lpstr>
      <vt:lpstr>The Production Incident: Accidental DELETE</vt:lpstr>
      <vt:lpstr>Observable State: Live Operations Dashboard (/admin)</vt:lpstr>
      <vt:lpstr>Project Objectives &amp; Evaluation Scope</vt:lpstr>
      <vt:lpstr>Theoretical Foundation: Physical Snapshot vs WAL Replay</vt:lpstr>
      <vt:lpstr>System Architecture: Automated Local DR Stack</vt:lpstr>
      <vt:lpstr>Backup Automation &amp; Self-Documenting Named PITR</vt:lpstr>
      <vt:lpstr>Experimental Controls &amp; Repeatability Rigor</vt:lpstr>
      <vt:lpstr>Scenario A: Stopped Rsync Snapshot Alone (Data Loss)</vt:lpstr>
      <vt:lpstr>Scenario B: pgBackRest with Archived WAL (Target Reached)</vt:lpstr>
      <vt:lpstr>Quantitative Evaluation: Recovery Time &amp; Reliability</vt:lpstr>
      <vt:lpstr>Conclusion: Automated DR without Cloud Infrastructure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Pushpendra Kumar Dhansoia</dc:creator>
  <cp:lastModifiedBy>Aaryan Sharma</cp:lastModifiedBy>
  <cp:revision>2</cp:revision>
  <dcterms:created xsi:type="dcterms:W3CDTF">2022-02-21T05:08:08Z</dcterms:created>
  <dcterms:modified xsi:type="dcterms:W3CDTF">2026-10-18T08:30:59Z</dcterms:modified>
</cp:coreProperties>
</file>