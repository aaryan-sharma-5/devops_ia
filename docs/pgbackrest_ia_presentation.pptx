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</p:sldIdLst>
  <p:sldSz cy="6858000" cx="12192000"/>
  <p:notesSz cx="6858000" cy="9144000"/>
  <p:embeddedFontLst>
    <p:embeddedFont>
      <p:font typeface="Fira Sans"/>
      <p:regular r:id="rId8"/>
      <p:bold r:id="rId9"/>
      <p:italic r:id="rId10"/>
      <p:boldItalic r:id="rId1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r:id="rId12" roundtripDataSignature="AMtx7mgv8UxGxe+gimfJlPZieiUCqCO5F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font" Target="fonts/FiraSans-regular.fntdata"/><Relationship Id="rId9" Type="http://schemas.openxmlformats.org/officeDocument/2006/relationships/font" Target="fonts/FiraSans-bold.fntdata"/><Relationship Id="rId10" Type="http://schemas.openxmlformats.org/officeDocument/2006/relationships/font" Target="fonts/FiraSans-italic.fntdata"/><Relationship Id="rId11" Type="http://schemas.openxmlformats.org/officeDocument/2006/relationships/font" Target="fonts/FiraSans-boldItalic.fntdata"/><Relationship Id="rId12" Type="http://customschemas.google.com/relationships/presentationmetadata" Target="metadata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8" name="Google Shape;78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>
            <a:r>
              <a:t>Welcome the evaluator; state the project topic: Automated PostgreSQL Backup and Point-in-Time Recovery using pgBackRest without cloud infrastructure.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Tell the incident story: peak registrations, accidental DELETE, dashboard drops to 80/0. State the recovery criteria.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Point at Garba KPI = 40 post-recovery. Stress that nothing is mocked; the web server queries PostgreSQL on every request.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State the project objectives: automated backup, continuous WAL archiving, disaster recovery without cloud infrastructure.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Defuse the 'rsync is bad' misreading: stopped rsync is perfectly consistent at time T. But snapshot-only cannot replay post-snapshot transactions.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Trace the data flow: app writes to DB, WAL is pushed to repository volume, backup-tools controls PITR restore and signals promotion.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Stress that sizes are compressed repository bytes, not raw DB megabytes. Highlight the named restore point and the archival safety gate.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home screenshot with 12 OCT badge and live pill. Mention that seed is always 100 bookings and both scenarios receive identical 20 HTTP registrations.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Snapshot, 20 registrations, DELETE, restore: back to 100, Garba 20, zero of the new twenty survive. Correct behavior for snapshot alone, but lossy.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Full backup, 20 registrations, named restore point, verified archival, DELETE, restore to name, promote. Engine logs confirm target. All 20 IDs back.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RTO differs by seconds (11-15s vs 18-21s). Recoverability differs by 20 transactions. Point at the charts: real benchmark numbers from CSV.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Summarize the core answer to the RQ. Point to pgbackrest.org and postgresql.org references. Offer to run either scenario live via Makefile.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6000"/>
              <a:buFont typeface="Marcellus"/>
              <a:buNone/>
              <a:defRPr b="0" i="0" sz="6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5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5"/>
          <p:cNvSpPr txBox="1"/>
          <p:nvPr>
            <p:ph idx="10" type="dt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" name="Google Shape;15;p5"/>
          <p:cNvSpPr txBox="1"/>
          <p:nvPr>
            <p:ph idx="11" type="ftr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" name="Google Shape;16;p5"/>
          <p:cNvSpPr txBox="1"/>
          <p:nvPr>
            <p:ph idx="12" type="sldNum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2"/>
          <p:cNvSpPr txBox="1"/>
          <p:nvPr>
            <p:ph type="title"/>
          </p:nvPr>
        </p:nvSpPr>
        <p:spPr>
          <a:xfrm>
            <a:off x="839788" y="987424"/>
            <a:ext cx="3932237" cy="10699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3200"/>
              <a:buFont typeface="Marcellus"/>
              <a:buNone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" name="Google Shape;19;p1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55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55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55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" name="Google Shape;20;p1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1" name="Google Shape;21;p12"/>
          <p:cNvSpPr txBox="1"/>
          <p:nvPr>
            <p:ph idx="10" type="dt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2" name="Google Shape;22;p12"/>
          <p:cNvSpPr txBox="1"/>
          <p:nvPr>
            <p:ph idx="11" type="ftr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3" name="Google Shape;23;p12"/>
          <p:cNvSpPr txBox="1"/>
          <p:nvPr>
            <p:ph idx="12" type="sldNum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0"/>
          <p:cNvSpPr txBox="1"/>
          <p:nvPr>
            <p:ph type="title"/>
          </p:nvPr>
        </p:nvSpPr>
        <p:spPr>
          <a:xfrm>
            <a:off x="838200" y="866274"/>
            <a:ext cx="10515600" cy="82441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" name="Google Shape;26;p10"/>
          <p:cNvSpPr txBox="1"/>
          <p:nvPr>
            <p:ph idx="10" type="dt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7" name="Google Shape;27;p10"/>
          <p:cNvSpPr txBox="1"/>
          <p:nvPr>
            <p:ph idx="11" type="ftr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8" name="Google Shape;28;p10"/>
          <p:cNvSpPr txBox="1"/>
          <p:nvPr>
            <p:ph idx="12" type="sldNum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3"/>
          <p:cNvSpPr txBox="1"/>
          <p:nvPr>
            <p:ph type="title"/>
          </p:nvPr>
        </p:nvSpPr>
        <p:spPr>
          <a:xfrm>
            <a:off x="839788" y="987424"/>
            <a:ext cx="3932237" cy="10699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3200"/>
              <a:buFont typeface="Marcellus"/>
              <a:buNone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1" name="Google Shape;31;p1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32" name="Google Shape;32;p1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3" name="Google Shape;33;p13"/>
          <p:cNvSpPr txBox="1"/>
          <p:nvPr>
            <p:ph idx="10" type="dt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" name="Google Shape;34;p13"/>
          <p:cNvSpPr txBox="1"/>
          <p:nvPr>
            <p:ph idx="11" type="ftr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13"/>
          <p:cNvSpPr txBox="1"/>
          <p:nvPr>
            <p:ph idx="12" type="sldNum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/>
          <p:nvPr/>
        </p:nvSpPr>
        <p:spPr>
          <a:xfrm>
            <a:off x="0" y="5680472"/>
            <a:ext cx="838200" cy="1190779"/>
          </a:xfrm>
          <a:prstGeom prst="rect">
            <a:avLst/>
          </a:prstGeom>
          <a:solidFill>
            <a:srgbClr val="A425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6"/>
          <p:cNvSpPr/>
          <p:nvPr/>
        </p:nvSpPr>
        <p:spPr>
          <a:xfrm>
            <a:off x="838199" y="6356350"/>
            <a:ext cx="9331411" cy="514901"/>
          </a:xfrm>
          <a:prstGeom prst="rect">
            <a:avLst/>
          </a:prstGeom>
          <a:solidFill>
            <a:srgbClr val="A425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39" name="Google Shape;39;p6"/>
          <p:cNvSpPr txBox="1"/>
          <p:nvPr>
            <p:ph type="title"/>
          </p:nvPr>
        </p:nvSpPr>
        <p:spPr>
          <a:xfrm>
            <a:off x="838200" y="866274"/>
            <a:ext cx="10515600" cy="82441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1" name="Google Shape;41;p6"/>
          <p:cNvSpPr txBox="1"/>
          <p:nvPr>
            <p:ph idx="10" type="dt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2" name="Google Shape;42;p6"/>
          <p:cNvSpPr txBox="1"/>
          <p:nvPr>
            <p:ph idx="11" type="ftr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"/>
          <p:cNvSpPr txBox="1"/>
          <p:nvPr>
            <p:ph type="title"/>
          </p:nvPr>
        </p:nvSpPr>
        <p:spPr>
          <a:xfrm>
            <a:off x="838200" y="866274"/>
            <a:ext cx="10515600" cy="82441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6" name="Google Shape;46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7" name="Google Shape;47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0" type="dt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9" name="Google Shape;49;p7"/>
          <p:cNvSpPr txBox="1"/>
          <p:nvPr>
            <p:ph idx="11" type="ftr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0" name="Google Shape;50;p7"/>
          <p:cNvSpPr txBox="1"/>
          <p:nvPr>
            <p:ph idx="12" type="sldNum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6000"/>
              <a:buFont typeface="Marcellus"/>
              <a:buNone/>
              <a:defRPr b="0" i="0" sz="6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8"/>
          <p:cNvSpPr txBox="1"/>
          <p:nvPr>
            <p:ph idx="10" type="dt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8"/>
          <p:cNvSpPr txBox="1"/>
          <p:nvPr>
            <p:ph idx="11" type="ftr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6" name="Google Shape;56;p8"/>
          <p:cNvSpPr txBox="1"/>
          <p:nvPr>
            <p:ph idx="12" type="sldNum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 txBox="1"/>
          <p:nvPr>
            <p:ph type="title"/>
          </p:nvPr>
        </p:nvSpPr>
        <p:spPr>
          <a:xfrm>
            <a:off x="839788" y="866776"/>
            <a:ext cx="10515600" cy="823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9" name="Google Shape;59;p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2400"/>
              <a:buFont typeface="Arial"/>
              <a:buNone/>
              <a:defRPr b="1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000"/>
              <a:buFont typeface="Arial"/>
              <a:buNone/>
              <a:defRPr b="1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0" name="Google Shape;60;p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2400"/>
              <a:buFont typeface="Arial"/>
              <a:buNone/>
              <a:defRPr b="1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000"/>
              <a:buFont typeface="Arial"/>
              <a:buNone/>
              <a:defRPr b="1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2" name="Google Shape;62;p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9"/>
          <p:cNvSpPr txBox="1"/>
          <p:nvPr>
            <p:ph idx="10" type="dt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9"/>
          <p:cNvSpPr txBox="1"/>
          <p:nvPr>
            <p:ph idx="11" type="ftr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9"/>
          <p:cNvSpPr txBox="1"/>
          <p:nvPr>
            <p:ph idx="12" type="sldNum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/>
          <p:nvPr>
            <p:ph idx="10" type="dt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11"/>
          <p:cNvSpPr txBox="1"/>
          <p:nvPr>
            <p:ph idx="11" type="ftr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9" name="Google Shape;69;p11"/>
          <p:cNvSpPr txBox="1"/>
          <p:nvPr>
            <p:ph idx="12" type="sldNum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type="title"/>
          </p:nvPr>
        </p:nvSpPr>
        <p:spPr>
          <a:xfrm>
            <a:off x="838200" y="866274"/>
            <a:ext cx="10515600" cy="82441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p1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p14"/>
          <p:cNvSpPr txBox="1"/>
          <p:nvPr>
            <p:ph idx="10" type="dt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4" name="Google Shape;74;p14"/>
          <p:cNvSpPr txBox="1"/>
          <p:nvPr>
            <p:ph idx="11" type="ftr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5" name="Google Shape;75;p14"/>
          <p:cNvSpPr txBox="1"/>
          <p:nvPr>
            <p:ph idx="12" type="sldNum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jp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/>
          <p:nvPr/>
        </p:nvSpPr>
        <p:spPr>
          <a:xfrm>
            <a:off x="0" y="6080760"/>
            <a:ext cx="838200" cy="790491"/>
          </a:xfrm>
          <a:prstGeom prst="rect">
            <a:avLst/>
          </a:prstGeom>
          <a:solidFill>
            <a:srgbClr val="A425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7;p4"/>
          <p:cNvSpPr/>
          <p:nvPr/>
        </p:nvSpPr>
        <p:spPr>
          <a:xfrm>
            <a:off x="10169610" y="6356350"/>
            <a:ext cx="2022390" cy="514900"/>
          </a:xfrm>
          <a:prstGeom prst="rect">
            <a:avLst/>
          </a:prstGeom>
          <a:solidFill>
            <a:srgbClr val="D922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8;p4"/>
          <p:cNvSpPr/>
          <p:nvPr/>
        </p:nvSpPr>
        <p:spPr>
          <a:xfrm>
            <a:off x="838199" y="6356350"/>
            <a:ext cx="9331411" cy="514901"/>
          </a:xfrm>
          <a:prstGeom prst="rect">
            <a:avLst/>
          </a:prstGeom>
          <a:solidFill>
            <a:srgbClr val="A425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descr="Graphical user interface, text, application&#10;&#10;Description automatically generated" id="9" name="Google Shape;9;p4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11124596" y="226123"/>
            <a:ext cx="728472" cy="5396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0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93862" y="141576"/>
            <a:ext cx="2316256" cy="708705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"/>
          <p:cNvSpPr txBox="1"/>
          <p:nvPr>
            <p:ph type="ctrTitle"/>
          </p:nvPr>
        </p:nvSpPr>
        <p:spPr>
          <a:xfrm>
            <a:off x="1703512" y="548680"/>
            <a:ext cx="9144000" cy="57844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>
              <a:defRPr sz="2300" b="1">
                <a:solidFill>
                  <a:srgbClr val="5B1A2E"/>
                </a:solidFill>
              </a:defRPr>
            </a:pPr>
            <a:r>
              <a:t>Automated PostgreSQL Backup and Point-in-Time Recovery using pgBackRest</a:t>
            </a:r>
          </a:p>
        </p:txBody>
      </p:sp>
      <p:sp>
        <p:nvSpPr>
          <p:cNvPr id="81" name="Google Shape;81;p2"/>
          <p:cNvSpPr txBox="1"/>
          <p:nvPr>
            <p:ph idx="1" type="subTitle"/>
          </p:nvPr>
        </p:nvSpPr>
        <p:spPr>
          <a:xfrm>
            <a:off x="35517" y="1281352"/>
            <a:ext cx="12109155" cy="72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E293B"/>
                </a:solidFill>
              </a:defRPr>
            </a:pPr>
            <a:r>
              <a:t>Automating Database Backups, WAL Archiving &amp; Disaster Recovery without Cloud Infrastructure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Demonstrated via StagePass (KJSCE Garba Eve) • PostgreSQL 17.11 &amp; pgBackRest 2.59.3</a:t>
            </a:r>
          </a:p>
        </p:txBody>
      </p:sp>
      <p:pic>
        <p:nvPicPr>
          <p:cNvPr id="82" name="Google Shape;8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518" y="2274354"/>
            <a:ext cx="6052457" cy="3512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2"/>
          <p:cNvPicPr preferRelativeResize="0"/>
          <p:nvPr/>
        </p:nvPicPr>
        <p:blipFill rotWithShape="1">
          <a:blip r:embed="rId4">
            <a:alphaModFix/>
          </a:blip>
          <a:srcRect b="0" l="0" r="59220" t="0"/>
          <a:stretch/>
        </p:blipFill>
        <p:spPr>
          <a:xfrm rot="-5400000">
            <a:off x="7424061" y="1000149"/>
            <a:ext cx="3512457" cy="6023426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2"/>
          <p:cNvSpPr txBox="1"/>
          <p:nvPr>
            <p:ph idx="10" type="dt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400" u="none" cap="none" strike="noStrike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2"/>
          <p:cNvSpPr txBox="1"/>
          <p:nvPr>
            <p:ph idx="11" type="ftr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400" u="none" cap="none" strike="noStrike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2"/>
          <p:cNvSpPr txBox="1"/>
          <p:nvPr>
            <p:ph idx="12" type="sldNum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rPr>
              <a:t>‹#›</a:t>
            </a:fld>
            <a:endParaRPr b="0" i="0" sz="1200" u="none" cap="none" strike="noStrike">
              <a:solidFill>
                <a:srgbClr val="3F3F3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Production Incident: Accidental DELETE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585216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5852160" cy="356616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5B1A2E"/>
                </a:solidFill>
              </a:defRPr>
            </a:pPr>
            <a:r>
              <a:t>INCIDENT SCENARIO &amp; BUSINESS IMPACT</a:t>
            </a:r>
          </a:p>
          <a:p>
            <a:r>
              <a:rPr sz="1050" b="1">
                <a:solidFill>
                  <a:srgbClr val="1E293B"/>
                </a:solidFill>
              </a:rPr>
              <a:t>• Production Context: </a:t>
            </a:r>
            <a:r>
              <a:rPr sz="1050" b="0">
                <a:solidFill>
                  <a:srgbClr val="334155"/>
                </a:solidFill>
              </a:rPr>
              <a:t>Peak online booking window for the KJSCE Garba Eve event.
</a:t>
            </a:r>
          </a:p>
          <a:p>
            <a:r>
              <a:rPr sz="1050" b="1">
                <a:solidFill>
                  <a:srgbClr val="DC2626"/>
                </a:solidFill>
              </a:rPr>
              <a:t>• Operator Catastrophe: </a:t>
            </a:r>
            <a:r>
              <a:rPr sz="1050" b="0">
                <a:solidFill>
                  <a:srgbClr val="334155"/>
                </a:solidFill>
              </a:rPr>
              <a:t>An unconstrained SQL maintenance statement is issued:
</a:t>
            </a:r>
          </a:p>
          <a:p>
            <a:pPr>
              <a:spcAft>
                <a:spcPts val="400"/>
              </a:spcAft>
              <a:defRPr sz="1000" b="1">
                <a:solidFill>
                  <a:srgbClr val="380C17"/>
                </a:solidFill>
              </a:defRPr>
            </a:pPr>
            <a:r>
              <a:t>   DELETE FROM bookings WHERE event_id = 1;</a:t>
            </a:r>
            <a:br/>
          </a:p>
          <a:p>
            <a:r>
              <a:rPr sz="1050" b="1">
                <a:solidFill>
                  <a:srgbClr val="1E293B"/>
                </a:solidFill>
              </a:rPr>
              <a:t>• Immediate Impact: </a:t>
            </a:r>
            <a:r>
              <a:rPr sz="1050" b="0">
                <a:solidFill>
                  <a:srgbClr val="334155"/>
                </a:solidFill>
              </a:rPr>
              <a:t>Total bookings drop from 120 to 80. All Garba bookings read exactly 0 on the live operations dashboard.
</a:t>
            </a:r>
          </a:p>
          <a:p>
            <a:r>
              <a:rPr sz="1050" b="1">
                <a:solidFill>
                  <a:srgbClr val="059669"/>
                </a:solidFill>
              </a:rPr>
              <a:t>• Disaster Recovery Mandate: </a:t>
            </a:r>
            <a:r>
              <a:rPr sz="1050" b="0">
                <a:solidFill>
                  <a:srgbClr val="334155"/>
                </a:solidFill>
              </a:rPr>
              <a:t>Restore service automatically to the pre-incident point in time while evaluating recovery time and reliability without cloud infrastructure.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03720" y="1691640"/>
            <a:ext cx="4434840" cy="169164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03720" y="1691640"/>
            <a:ext cx="4434840" cy="169164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DC2626"/>
                </a:solidFill>
              </a:defRPr>
            </a:pPr>
            <a:r>
              <a:t>GARBA BOOKINGS AT INCIDENT</a:t>
            </a:r>
          </a:p>
          <a:p>
            <a:pPr>
              <a:spcAft>
                <a:spcPts val="200"/>
              </a:spcAft>
              <a:defRPr sz="3800" b="1">
                <a:solidFill>
                  <a:srgbClr val="DC2626"/>
                </a:solidFill>
              </a:defRPr>
            </a:pPr>
            <a:r>
              <a:t>0</a:t>
            </a:r>
          </a:p>
          <a:p>
            <a:pPr>
              <a:defRPr sz="1050" b="1">
                <a:solidFill>
                  <a:srgbClr val="1E293B"/>
                </a:solidFill>
              </a:defRPr>
            </a:pPr>
            <a:r>
              <a:t>40 Confirmed Registrations Instantly Wiped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3566160"/>
            <a:ext cx="4434840" cy="169164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3566160"/>
            <a:ext cx="4434840" cy="169164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RECOVERY TARGET (RPO = 0)</a:t>
            </a:r>
          </a:p>
          <a:p>
            <a:pPr>
              <a:spcAft>
                <a:spcPts val="200"/>
              </a:spcAft>
              <a:defRPr sz="3400" b="1">
                <a:solidFill>
                  <a:srgbClr val="059669"/>
                </a:solidFill>
              </a:defRPr>
            </a:pPr>
            <a:r>
              <a:t>120 / 120</a:t>
            </a:r>
          </a:p>
          <a:p>
            <a:pPr>
              <a:defRPr sz="1050" b="1">
                <a:solidFill>
                  <a:srgbClr val="1E293B"/>
                </a:solidFill>
              </a:defRPr>
            </a:pPr>
            <a:r>
              <a:t>100% Transactions Preserved • 0 Orphans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Observable State: Live Operations Dashboard (/admin)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475488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4754880" cy="356616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5B1A2E"/>
                </a:solidFill>
              </a:defRPr>
            </a:pPr>
            <a:r>
              <a:t>REAL-TIME POSTGRESQL INTROSPECTION</a:t>
            </a:r>
          </a:p>
          <a:p>
            <a:r>
              <a:rPr sz="1050" b="1">
                <a:solidFill>
                  <a:srgbClr val="1E293B"/>
                </a:solidFill>
              </a:rPr>
              <a:t>• Live Query Execution: </a:t>
            </a:r>
            <a:r>
              <a:rPr sz="1050" b="0">
                <a:solidFill>
                  <a:srgbClr val="334155"/>
                </a:solidFill>
              </a:rPr>
              <a:t>The /admin endpoint queries PostgreSQL relations live on every HTTP request—nothing is mocked or hardcoded.
</a:t>
            </a:r>
          </a:p>
          <a:p>
            <a:r>
              <a:rPr sz="1050" b="1">
                <a:solidFill>
                  <a:srgbClr val="1E293B"/>
                </a:solidFill>
              </a:rPr>
              <a:t>• Real-Time Metrics: </a:t>
            </a:r>
            <a:r>
              <a:rPr sz="1050" b="0">
                <a:solidFill>
                  <a:srgbClr val="334155"/>
                </a:solidFill>
              </a:rPr>
              <a:t>Displays Total Bookings (120), Garba Bookings (40), and Event Capacity live.
</a:t>
            </a:r>
          </a:p>
          <a:p>
            <a:r>
              <a:rPr sz="1050" b="1">
                <a:solidFill>
                  <a:srgbClr val="1E293B"/>
                </a:solidFill>
              </a:rPr>
              <a:t>• Audit Trail Inspection: </a:t>
            </a:r>
            <a:r>
              <a:rPr sz="1050" b="0">
                <a:solidFill>
                  <a:srgbClr val="334155"/>
                </a:solidFill>
              </a:rPr>
              <a:t>Shows attendee IDs (bk_seed_... vs HTTP batch IDs) for verification.
</a:t>
            </a:r>
          </a:p>
          <a:p>
            <a:r>
              <a:rPr sz="1050" b="1">
                <a:solidFill>
                  <a:srgbClr val="DC2626"/>
                </a:solidFill>
              </a:rPr>
              <a:t>• Immediate Incident Proof: </a:t>
            </a:r>
            <a:r>
              <a:rPr sz="1050" b="0">
                <a:solidFill>
                  <a:srgbClr val="334155"/>
                </a:solidFill>
              </a:rPr>
              <a:t>When the DELETE runs, refreshing this dashboard immediately reports Garba = 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6440" y="1691640"/>
            <a:ext cx="553212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783080"/>
            <a:ext cx="5349240" cy="3154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06440" y="4983480"/>
            <a:ext cx="5532120" cy="27432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</a:defRPr>
            </a:pPr>
            <a:r>
              <a:t>Figure: StagePass Operations Center showing post-recovery state (120/40).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Objectives &amp; Evaluation Scope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10515600" cy="1051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8A1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10515600" cy="105156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5B1A2E"/>
                </a:solidFill>
              </a:defRPr>
            </a:pPr>
            <a:r>
              <a:t>PROJECT FOCUS &amp; CORE RESEARCH QUESTION</a:t>
            </a:r>
          </a:p>
          <a:p>
            <a:pPr>
              <a:defRPr sz="1050" b="1">
                <a:solidFill>
                  <a:srgbClr val="1E293B"/>
                </a:solidFill>
              </a:defRPr>
            </a:pPr>
            <a:r>
              <a:t>“This project demonstrates how pgBackRest automates PostgreSQL database backups, WAL archiving, and disaster recovery. It explores restoring a database to a specific point in time after accidental data loss, evaluating recovery time and reliability without requiring cloud infrastructure.”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880360"/>
            <a:ext cx="338328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880360"/>
            <a:ext cx="3383280" cy="237744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5B1A2E"/>
                </a:solidFill>
              </a:defRPr>
            </a:pPr>
            <a:r>
              <a:t>[O1] Automated Lab Platform</a:t>
            </a:r>
          </a:p>
          <a:p>
            <a:pPr>
              <a:spcAft>
                <a:spcPts val="400"/>
              </a:spcAft>
              <a:defRPr sz="1000" b="0">
                <a:solidFill>
                  <a:srgbClr val="334155"/>
                </a:solidFill>
              </a:defRPr>
            </a:pPr>
            <a:r>
              <a:t>Build StagePass app, schema constraints, deterministic 100-row seed and realistic HTTP workload runner.</a:t>
            </a:r>
            <a:br/>
          </a:p>
          <a:p>
            <a:pPr>
              <a:defRPr sz="950" b="1">
                <a:solidFill>
                  <a:srgbClr val="E8A13C"/>
                </a:solidFill>
              </a:defRPr>
            </a:pPr>
            <a:r>
              <a:t>Mapped: Slide 6 &amp;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8" y="2880360"/>
            <a:ext cx="338328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07408" y="2880360"/>
            <a:ext cx="3383280" cy="237744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5B1A2E"/>
                </a:solidFill>
              </a:defRPr>
            </a:pPr>
            <a:r>
              <a:t>[O2] Zero-Cloud Disaster Recovery</a:t>
            </a:r>
          </a:p>
          <a:p>
            <a:pPr>
              <a:spcAft>
                <a:spcPts val="400"/>
              </a:spcAft>
              <a:defRPr sz="1000" b="0">
                <a:solidFill>
                  <a:srgbClr val="334155"/>
                </a:solidFill>
              </a:defRPr>
            </a:pPr>
            <a:r>
              <a:t>Evaluate Point-in-Time Recovery to a target point after data loss vs stopped filesystem snapshots.</a:t>
            </a:r>
            <a:br/>
          </a:p>
          <a:p>
            <a:pPr>
              <a:defRPr sz="950" b="1">
                <a:solidFill>
                  <a:srgbClr val="E8A13C"/>
                </a:solidFill>
              </a:defRPr>
            </a:pPr>
            <a:r>
              <a:t>Mapped: Slide 9 &amp;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73568" y="2880360"/>
            <a:ext cx="338328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73568" y="2880360"/>
            <a:ext cx="3383280" cy="237744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5B1A2E"/>
                </a:solidFill>
              </a:defRPr>
            </a:pPr>
            <a:r>
              <a:t>[O3] Recovery Time &amp; Reliability</a:t>
            </a:r>
          </a:p>
          <a:p>
            <a:pPr>
              <a:spcAft>
                <a:spcPts val="400"/>
              </a:spcAft>
              <a:defRPr sz="1000" b="0">
                <a:solidFill>
                  <a:srgbClr val="334155"/>
                </a:solidFill>
              </a:defRPr>
            </a:pPr>
            <a:r>
              <a:t>Quantify Full vs Diff vs Incr backup duration, compressed footprint, and pg_dump baseline on 20k rows.</a:t>
            </a:r>
            <a:br/>
          </a:p>
          <a:p>
            <a:pPr>
              <a:defRPr sz="950" b="1">
                <a:solidFill>
                  <a:srgbClr val="E8A13C"/>
                </a:solidFill>
              </a:defRPr>
            </a:pPr>
            <a:r>
              <a:t>Mapped: Slide 7 &amp;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Theoretical Foundation: Physical Snapshot vs WAL Replay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512064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5120640" cy="356616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DC2626"/>
                </a:solidFill>
              </a:defRPr>
            </a:pPr>
            <a:r>
              <a:t>BASELINE: STOPPED RSYNC SNAPSHOT</a:t>
            </a:r>
          </a:p>
          <a:p>
            <a:r>
              <a:rPr sz="1050" b="1">
                <a:solidFill>
                  <a:srgbClr val="1E293B"/>
                </a:solidFill>
              </a:rPr>
              <a:t>• Consistent File State at Time T:
</a:t>
            </a:r>
            <a:r>
              <a:rPr sz="1000" b="0">
                <a:solidFill>
                  <a:srgbClr val="334155"/>
                </a:solidFill>
              </a:rPr>
              <a:t>PostgreSQL is stopped cleanly; PGDATA is mirrored with rsync -aHAX --delete. Guarantees consistency at snapshot time.
</a:t>
            </a:r>
          </a:p>
          <a:p>
            <a:r>
              <a:rPr sz="1050" b="1">
                <a:solidFill>
                  <a:srgbClr val="DC2626"/>
                </a:solidFill>
              </a:rPr>
              <a:t>• Zero Post-Snapshot Visibility:
</a:t>
            </a:r>
            <a:r>
              <a:rPr sz="1000" b="0">
                <a:solidFill>
                  <a:srgbClr val="334155"/>
                </a:solidFill>
              </a:rPr>
              <a:t>Without archived write-ahead logs, any transaction written at T + 1 is permanently unrecoverable.
</a:t>
            </a:r>
          </a:p>
          <a:p>
            <a:r>
              <a:rPr sz="1050" b="1">
                <a:solidFill>
                  <a:srgbClr val="1E293B"/>
                </a:solidFill>
              </a:rPr>
              <a:t>• Realistic Industry Scope:
</a:t>
            </a:r>
            <a:r>
              <a:rPr sz="1000" b="0">
                <a:solidFill>
                  <a:srgbClr val="334155"/>
                </a:solidFill>
              </a:rPr>
              <a:t>Rsync with manual WAL archiving could do more, but enterprise teams frequently rely on storage snapshots alone.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36208" y="1691640"/>
            <a:ext cx="5120640" cy="356616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36208" y="1691640"/>
            <a:ext cx="5120640" cy="356616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59669"/>
                </a:solidFill>
              </a:defRPr>
            </a:pPr>
            <a:r>
              <a:t>CHAMPION: PGBACKREST + CONTINUOUS WAL</a:t>
            </a:r>
          </a:p>
          <a:p>
            <a:r>
              <a:rPr sz="1050" b="1">
                <a:solidFill>
                  <a:srgbClr val="1E293B"/>
                </a:solidFill>
              </a:rPr>
              <a:t>• Automated Continuous Archiving:
</a:t>
            </a:r>
            <a:r>
              <a:rPr sz="1000" b="0">
                <a:solidFill>
                  <a:srgbClr val="334155"/>
                </a:solidFill>
              </a:rPr>
              <a:t>PostgreSQL archive_command pushes every 16 MB WAL segment and archive_timeout threshold outside PGDATA automatically.
</a:t>
            </a:r>
          </a:p>
          <a:p>
            <a:r>
              <a:rPr sz="1050" b="1">
                <a:solidFill>
                  <a:srgbClr val="059669"/>
                </a:solidFill>
              </a:rPr>
              <a:t>• Microsecond Replay Precision:
</a:t>
            </a:r>
            <a:r>
              <a:rPr sz="1000" b="0">
                <a:solidFill>
                  <a:srgbClr val="334155"/>
                </a:solidFill>
              </a:rPr>
              <a:t>Restores base physical backup, then replays WAL records up to a specific transaction, LSN, or named restore point.
</a:t>
            </a:r>
          </a:p>
          <a:p>
            <a:r>
              <a:rPr sz="1050" b="1">
                <a:solidFill>
                  <a:srgbClr val="1E293B"/>
                </a:solidFill>
              </a:rPr>
              <a:t>• True Disaster Recovery:
</a:t>
            </a:r>
            <a:r>
              <a:rPr sz="1000" b="0">
                <a:solidFill>
                  <a:srgbClr val="334155"/>
                </a:solidFill>
              </a:rPr>
              <a:t>Shifts recovery from 'restore to backup time' to 'restore to the microsecond before disaster'.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Architecture: Automated Local DR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2505456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2505456" cy="201168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 algn="ctr">
              <a:defRPr sz="1150" b="1">
                <a:solidFill>
                  <a:srgbClr val="5B1A2E"/>
                </a:solidFill>
              </a:defRPr>
            </a:pPr>
            <a:r>
              <a:t>StagePass App</a:t>
            </a:r>
          </a:p>
          <a:p>
            <a:pPr algn="ctr">
              <a:spcAft>
                <a:spcPts val="400"/>
              </a:spcAft>
              <a:defRPr sz="950" b="1">
                <a:solidFill>
                  <a:srgbClr val="E8A13C"/>
                </a:solidFill>
              </a:defRPr>
            </a:pPr>
            <a:r>
              <a:t>FastAPI (:8000)</a:t>
            </a:r>
          </a:p>
          <a:p>
            <a:pPr algn="ctr">
              <a:defRPr sz="1000" b="0">
                <a:solidFill>
                  <a:srgbClr val="334155"/>
                </a:solidFill>
              </a:defRPr>
            </a:pPr>
            <a:r>
              <a:t>Request-scoped pool</a:t>
            </a:r>
            <a:br/>
            <a:r>
              <a:t>Survives DB downtime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11296" y="1691640"/>
            <a:ext cx="2505456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11296" y="1691640"/>
            <a:ext cx="2505456" cy="201168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 algn="ctr">
              <a:defRPr sz="1150" b="1">
                <a:solidFill>
                  <a:srgbClr val="1E293B"/>
                </a:solidFill>
              </a:defRPr>
            </a:pPr>
            <a:r>
              <a:t>PostgreSQL 17.11</a:t>
            </a:r>
          </a:p>
          <a:p>
            <a:pPr algn="ctr">
              <a:spcAft>
                <a:spcPts val="400"/>
              </a:spcAft>
              <a:defRPr sz="950" b="1">
                <a:solidFill>
                  <a:srgbClr val="E8A13C"/>
                </a:solidFill>
              </a:defRPr>
            </a:pPr>
            <a:r>
              <a:t>Database Engine (:5433)</a:t>
            </a:r>
          </a:p>
          <a:p>
            <a:pPr algn="ctr">
              <a:defRPr sz="1000" b="0">
                <a:solidFill>
                  <a:srgbClr val="334155"/>
                </a:solidFill>
              </a:defRPr>
            </a:pPr>
            <a:r>
              <a:t>wal_level=replica</a:t>
            </a:r>
            <a:br/>
            <a:r>
              <a:t>archive_mode=on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691640"/>
            <a:ext cx="2505456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81344" y="1691640"/>
            <a:ext cx="2505456" cy="201168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 algn="ctr">
              <a:defRPr sz="1150" b="1">
                <a:solidFill>
                  <a:srgbClr val="5B1A2E"/>
                </a:solidFill>
              </a:defRPr>
            </a:pPr>
            <a:r>
              <a:t>Dedicated Repo</a:t>
            </a:r>
          </a:p>
          <a:p>
            <a:pPr algn="ctr">
              <a:spcAft>
                <a:spcPts val="400"/>
              </a:spcAft>
              <a:defRPr sz="950" b="1">
                <a:solidFill>
                  <a:srgbClr val="E8A13C"/>
                </a:solidFill>
              </a:defRPr>
            </a:pPr>
            <a:r>
              <a:t>Volume (/var/lib/pbr)</a:t>
            </a:r>
          </a:p>
          <a:p>
            <a:pPr algn="ctr">
              <a:defRPr sz="1000" b="0">
                <a:solidFill>
                  <a:srgbClr val="334155"/>
                </a:solidFill>
              </a:defRPr>
            </a:pPr>
            <a:r>
              <a:t>Isolated from PGDATA</a:t>
            </a:r>
            <a:br/>
            <a:r>
              <a:t>Full/Diff/Incr + WAL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51392" y="1691640"/>
            <a:ext cx="2505456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51392" y="1691640"/>
            <a:ext cx="2505456" cy="201168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 algn="ctr">
              <a:defRPr sz="1150" b="1">
                <a:solidFill>
                  <a:srgbClr val="059669"/>
                </a:solidFill>
              </a:defRPr>
            </a:pPr>
            <a:r>
              <a:t>Backup-Tools</a:t>
            </a:r>
          </a:p>
          <a:p>
            <a:pPr algn="ctr">
              <a:spcAft>
                <a:spcPts val="400"/>
              </a:spcAft>
              <a:defRPr sz="950" b="1">
                <a:solidFill>
                  <a:srgbClr val="E8A13C"/>
                </a:solidFill>
              </a:defRPr>
            </a:pPr>
            <a:r>
              <a:t>Operational Sidecar</a:t>
            </a:r>
          </a:p>
          <a:p>
            <a:pPr algn="ctr">
              <a:defRPr sz="1000" b="0">
                <a:solidFill>
                  <a:srgbClr val="334155"/>
                </a:solidFill>
              </a:defRPr>
            </a:pPr>
            <a:r>
              <a:t>Guarded restore CLI</a:t>
            </a:r>
            <a:br/>
            <a:r>
              <a:t>LSN verification gates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3840480"/>
            <a:ext cx="10515600" cy="1417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840480"/>
            <a:ext cx="10515600" cy="141732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5B1A2E"/>
                </a:solidFill>
              </a:defRPr>
            </a:pPr>
            <a:r>
              <a:t>RELIABILITY WITHOUT CLOUD INFRASTRUCTURE</a:t>
            </a:r>
          </a:p>
          <a:p>
            <a:r>
              <a:rPr sz="1000" b="1">
                <a:solidFill>
                  <a:srgbClr val="1E293B"/>
                </a:solidFill>
              </a:rPr>
              <a:t>1. Local Volume Isolation: </a:t>
            </a:r>
            <a:r>
              <a:rPr sz="1000" b="0">
                <a:solidFill>
                  <a:srgbClr val="334155"/>
                </a:solidFill>
              </a:rPr>
              <a:t>PGDATA and pgBackRest repository live on distinct Docker volumes; restore never overwrites backup storage.
</a:t>
            </a:r>
          </a:p>
          <a:p>
            <a:r>
              <a:rPr sz="1000" b="1">
                <a:solidFill>
                  <a:srgbClr val="1E293B"/>
                </a:solidFill>
              </a:rPr>
              <a:t>2. Connection Resilience: </a:t>
            </a:r>
            <a:r>
              <a:rPr sz="1000" b="0">
                <a:solidFill>
                  <a:srgbClr val="334155"/>
                </a:solidFill>
              </a:rPr>
              <a:t>FastAPI uses scoped sessions; when DB restarts during restore, web requests fail gracefully and reconnect cleanly.
</a:t>
            </a:r>
          </a:p>
          <a:p>
            <a:r>
              <a:rPr sz="1000" b="1">
                <a:solidFill>
                  <a:srgbClr val="1E293B"/>
                </a:solidFill>
              </a:rPr>
              <a:t>3. Automated Guard Scripts: </a:t>
            </a:r>
            <a:r>
              <a:rPr sz="1000" b="0">
                <a:solidFill>
                  <a:srgbClr val="334155"/>
                </a:solidFill>
              </a:rPr>
              <a:t>Strict assertions verify stanza health, LSN archival status, and container state before triggering commands.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Backup Automation &amp; Self-Documenting Named PITR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338328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3383280" cy="205740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5B1A2E"/>
                </a:solidFill>
              </a:defRPr>
            </a:pPr>
            <a:r>
              <a:t>FULL BACKUP</a:t>
            </a:r>
          </a:p>
          <a:p>
            <a:pPr>
              <a:spcAft>
                <a:spcPts val="200"/>
              </a:spcAft>
              <a:defRPr sz="1600" b="1">
                <a:solidFill>
                  <a:srgbClr val="1E293B"/>
                </a:solidFill>
              </a:defRPr>
            </a:pPr>
            <a:r>
              <a:t>10.6 s  |  4.5 MB</a:t>
            </a:r>
          </a:p>
          <a:p>
            <a:pPr>
              <a:spcAft>
                <a:spcPts val="400"/>
              </a:spcAft>
              <a:defRPr sz="1000" b="1">
                <a:solidFill>
                  <a:srgbClr val="5B1A2E"/>
                </a:solidFill>
              </a:defRPr>
            </a:pPr>
            <a:r>
              <a:t>Footprint: Base</a:t>
            </a:r>
          </a:p>
          <a:p>
            <a:pPr>
              <a:defRPr sz="950" b="0">
                <a:solidFill>
                  <a:srgbClr val="334155"/>
                </a:solidFill>
              </a:defRPr>
            </a:pPr>
            <a:r>
              <a:t>Complete physical cluster copy + active WAL. Self-contained; highest time &amp; storage cost.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07408" y="1691640"/>
            <a:ext cx="338328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07408" y="1691640"/>
            <a:ext cx="3383280" cy="205740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E8A13C"/>
                </a:solidFill>
              </a:defRPr>
            </a:pPr>
            <a:r>
              <a:t>DIFFERENTIAL</a:t>
            </a:r>
          </a:p>
          <a:p>
            <a:pPr>
              <a:spcAft>
                <a:spcPts val="200"/>
              </a:spcAft>
              <a:defRPr sz="1600" b="1">
                <a:solidFill>
                  <a:srgbClr val="1E293B"/>
                </a:solidFill>
              </a:defRPr>
            </a:pPr>
            <a:r>
              <a:t>2.5 s  |  697.7 KB</a:t>
            </a:r>
          </a:p>
          <a:p>
            <a:pPr>
              <a:spcAft>
                <a:spcPts val="400"/>
              </a:spcAft>
              <a:defRPr sz="1000" b="1">
                <a:solidFill>
                  <a:srgbClr val="5B1A2E"/>
                </a:solidFill>
              </a:defRPr>
            </a:pPr>
            <a:r>
              <a:t>Footprint: 84.5% Saving</a:t>
            </a:r>
          </a:p>
          <a:p>
            <a:pPr>
              <a:defRPr sz="950" b="0">
                <a:solidFill>
                  <a:srgbClr val="334155"/>
                </a:solidFill>
              </a:defRPr>
            </a:pPr>
            <a:r>
              <a:t>Copies changed pages since last FULL backup. Breaks dependency on prior incrementals.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73568" y="1691640"/>
            <a:ext cx="338328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73568" y="1691640"/>
            <a:ext cx="3383280" cy="205740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</a:defRPr>
            </a:pPr>
            <a:r>
              <a:t>INCREMENTAL</a:t>
            </a:r>
          </a:p>
          <a:p>
            <a:pPr>
              <a:spcAft>
                <a:spcPts val="200"/>
              </a:spcAft>
              <a:defRPr sz="1600" b="1">
                <a:solidFill>
                  <a:srgbClr val="1E293B"/>
                </a:solidFill>
              </a:defRPr>
            </a:pPr>
            <a:r>
              <a:t>3.0 s  |  635.8 KB</a:t>
            </a:r>
          </a:p>
          <a:p>
            <a:pPr>
              <a:spcAft>
                <a:spcPts val="400"/>
              </a:spcAft>
              <a:defRPr sz="1000" b="1">
                <a:solidFill>
                  <a:srgbClr val="5B1A2E"/>
                </a:solidFill>
              </a:defRPr>
            </a:pPr>
            <a:r>
              <a:t>Footprint: 85.9% Saving</a:t>
            </a:r>
          </a:p>
          <a:p>
            <a:pPr>
              <a:defRPr sz="950" b="0">
                <a:solidFill>
                  <a:srgbClr val="334155"/>
                </a:solidFill>
              </a:defRPr>
            </a:pPr>
            <a:r>
              <a:t>Copies blocks modified since ANY last backup. Fastest routine cycle; chained dependency.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3886200"/>
            <a:ext cx="10515600" cy="13716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886200"/>
            <a:ext cx="10515600" cy="137160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5B1A2E"/>
                </a:solidFill>
              </a:defRPr>
            </a:pPr>
            <a:r>
              <a:t>AUTOMATED POINT-IN-TIME RECOVERY TO TARGET POINT</a:t>
            </a:r>
          </a:p>
          <a:p>
            <a:r>
              <a:rPr sz="1000" b="1">
                <a:solidFill>
                  <a:srgbClr val="1E293B"/>
                </a:solidFill>
              </a:rPr>
              <a:t>• Elimination of Clock Skew: </a:t>
            </a:r>
            <a:r>
              <a:rPr sz="1000" b="0">
                <a:solidFill>
                  <a:srgbClr val="334155"/>
                </a:solidFill>
              </a:rPr>
              <a:t>Avoids ambiguous timestamps; plants a named restore point via SELECT pg_create_restore_point('rp_scenario_b');
</a:t>
            </a:r>
          </a:p>
          <a:p>
            <a:r>
              <a:rPr sz="1000" b="1">
                <a:solidFill>
                  <a:srgbClr val="059669"/>
                </a:solidFill>
              </a:rPr>
              <a:t>• Guaranteed Archival Gate: </a:t>
            </a:r>
            <a:r>
              <a:rPr sz="1000" b="0">
                <a:solidFill>
                  <a:srgbClr val="334155"/>
                </a:solidFill>
              </a:rPr>
              <a:t>Recovery script checks WAL segment archives and refuses to restore until target LSN is proven written to repo disk.
</a:t>
            </a:r>
          </a:p>
          <a:p>
            <a:r>
              <a:rPr sz="1000" b="1">
                <a:solidFill>
                  <a:srgbClr val="1E293B"/>
                </a:solidFill>
              </a:rPr>
              <a:t>• Precise Target Recovery: </a:t>
            </a:r>
            <a:r>
              <a:rPr sz="1000" b="0">
                <a:solidFill>
                  <a:srgbClr val="334155"/>
                </a:solidFill>
              </a:rPr>
              <a:t>pgbackrest restore --type=name --target=rp_scenario_b --target-action=promote replays WAL and reopens DB read-write.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Experimental Controls &amp; Repeatability Rigor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475488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4754880" cy="356616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5B1A2E"/>
                </a:solidFill>
              </a:defRPr>
            </a:pPr>
            <a:r>
              <a:t>METHODOLOGICAL GUARDS &amp; INVARIANTS</a:t>
            </a:r>
          </a:p>
          <a:p>
            <a:r>
              <a:rPr sz="1050" b="1">
                <a:solidFill>
                  <a:srgbClr val="1E293B"/>
                </a:solidFill>
              </a:rPr>
              <a:t>• Deterministic 100-Row Seed:
</a:t>
            </a:r>
            <a:r>
              <a:rPr sz="1000" b="0">
                <a:solidFill>
                  <a:srgbClr val="334155"/>
                </a:solidFill>
              </a:rPr>
              <a:t>Fixed distribution (20 Garba, 50 TechSummit, 30 MusicFest) seeded identically for both scenarios.
</a:t>
            </a:r>
          </a:p>
          <a:p>
            <a:r>
              <a:rPr sz="1050" b="1">
                <a:solidFill>
                  <a:srgbClr val="1E293B"/>
                </a:solidFill>
              </a:rPr>
              <a:t>• Identical 20-HTTP Workload:
</a:t>
            </a:r>
            <a:r>
              <a:rPr sz="1000" b="0">
                <a:solidFill>
                  <a:srgbClr val="334155"/>
                </a:solidFill>
              </a:rPr>
              <a:t>20 real HTTP registration payloads executed via scripts/workload.py against /api/events/kjsce-garba-eve/register.
</a:t>
            </a:r>
          </a:p>
          <a:p>
            <a:r>
              <a:rPr sz="1050" b="1">
                <a:solidFill>
                  <a:srgbClr val="1E293B"/>
                </a:solidFill>
              </a:rPr>
              <a:t>• Two-Phase Replication (Run 1 &amp; Run 2):
</a:t>
            </a:r>
            <a:r>
              <a:rPr sz="1000" b="0">
                <a:solidFill>
                  <a:srgbClr val="334155"/>
                </a:solidFill>
              </a:rPr>
              <a:t>Every test run twice from scratch with isolated run IDs, raw CSV logs, and terminal recordings.
</a:t>
            </a:r>
          </a:p>
          <a:p>
            <a:r>
              <a:rPr sz="1050" b="1">
                <a:solidFill>
                  <a:srgbClr val="059669"/>
                </a:solidFill>
              </a:rPr>
              <a:t>• Automated Test Suite:
</a:t>
            </a:r>
            <a:r>
              <a:rPr sz="1000" b="0">
                <a:solidFill>
                  <a:srgbClr val="334155"/>
                </a:solidFill>
              </a:rPr>
              <a:t>8 pytest tests validate database constraints, transaction isolation, and health endpoints.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6440" y="1691640"/>
            <a:ext cx="553212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783080"/>
            <a:ext cx="5349240" cy="3154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06440" y="4983480"/>
            <a:ext cx="5532120" cy="27432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</a:defRPr>
            </a:pPr>
            <a:r>
              <a:t>Figure: StagePass Home UI: 12 OCT badge, live pill, and booking modal.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A: Stopped Rsync Snapshot Alone (Data Loss)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557784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5577840" cy="356616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DC2626"/>
                </a:solidFill>
              </a:defRPr>
            </a:pPr>
            <a:r>
              <a:t>EXECUTION TIMELINE &amp; DATA LOSS REASONING</a:t>
            </a:r>
          </a:p>
          <a:p>
            <a:r>
              <a:rPr sz="1000" b="1">
                <a:solidFill>
                  <a:srgbClr val="1E293B"/>
                </a:solidFill>
              </a:rPr>
              <a:t>1. Baseline Snapshot Taken: </a:t>
            </a:r>
            <a:r>
              <a:rPr sz="1000" b="0">
                <a:solidFill>
                  <a:srgbClr val="334155"/>
                </a:solidFill>
              </a:rPr>
              <a:t>Cluster stopped, rsync snapshot created at 100 bookings (20 Garba).
</a:t>
            </a:r>
          </a:p>
          <a:p>
            <a:r>
              <a:rPr sz="1000" b="1">
                <a:solidFill>
                  <a:srgbClr val="1E293B"/>
                </a:solidFill>
              </a:rPr>
              <a:t>2. Live Traffic Ingestion: </a:t>
            </a:r>
            <a:r>
              <a:rPr sz="1000" b="0">
                <a:solidFill>
                  <a:srgbClr val="334155"/>
                </a:solidFill>
              </a:rPr>
              <a:t>20 valid attendees register via HTTP; count climbs to 120 (40 Garba).
</a:t>
            </a:r>
          </a:p>
          <a:p>
            <a:r>
              <a:rPr sz="1000" b="1">
                <a:solidFill>
                  <a:srgbClr val="DC2626"/>
                </a:solidFill>
              </a:rPr>
              <a:t>3. Operator Disaster: </a:t>
            </a:r>
            <a:r>
              <a:rPr sz="1000" b="0">
                <a:solidFill>
                  <a:srgbClr val="334155"/>
                </a:solidFill>
              </a:rPr>
              <a:t>DELETE query wipes all Garba registrations; count plunges to 80.
</a:t>
            </a:r>
          </a:p>
          <a:p>
            <a:r>
              <a:rPr sz="1000" b="1">
                <a:solidFill>
                  <a:srgbClr val="1E293B"/>
                </a:solidFill>
              </a:rPr>
              <a:t>4. Disaster Recovery Restored: </a:t>
            </a:r>
            <a:r>
              <a:rPr sz="1000" b="0">
                <a:solidFill>
                  <a:srgbClr val="334155"/>
                </a:solidFill>
              </a:rPr>
              <a:t>Cluster stopped, rsync snapshot restored, PostgreSQL restarted.
</a:t>
            </a:r>
          </a:p>
          <a:p>
            <a:r>
              <a:rPr sz="1050" b="1">
                <a:solidFill>
                  <a:srgbClr val="DC2626"/>
                </a:solidFill>
              </a:rPr>
              <a:t>• Final Evaluated State: </a:t>
            </a:r>
            <a:r>
              <a:rPr sz="1050" b="0">
                <a:solidFill>
                  <a:srgbClr val="334155"/>
                </a:solidFill>
              </a:rPr>
              <a:t>100 Total / 20 Garba. Exactly ZERO of the 20 post-snapshot registrations survived (reproduced twice).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29400" y="1691640"/>
            <a:ext cx="4709160" cy="169164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29400" y="1691640"/>
            <a:ext cx="4709160" cy="169164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DC2626"/>
                </a:solidFill>
              </a:defRPr>
            </a:pPr>
            <a:r>
              <a:t>TRANSACTIONS PRESERVED (RPO)</a:t>
            </a:r>
          </a:p>
          <a:p>
            <a:pPr>
              <a:spcAft>
                <a:spcPts val="200"/>
              </a:spcAft>
              <a:defRPr sz="3600" b="1">
                <a:solidFill>
                  <a:srgbClr val="DC2626"/>
                </a:solidFill>
              </a:defRPr>
            </a:pPr>
            <a:r>
              <a:t>0 / 20 (0%)</a:t>
            </a:r>
          </a:p>
          <a:p>
            <a:pPr>
              <a:defRPr sz="1050" b="1">
                <a:solidFill>
                  <a:srgbClr val="1E293B"/>
                </a:solidFill>
              </a:defRPr>
            </a:pPr>
            <a:r>
              <a:t>20 Legitimate Registrations Permanently Lost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3566160"/>
            <a:ext cx="4709160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3566160"/>
            <a:ext cx="4709160" cy="169164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5B1A2E"/>
                </a:solidFill>
              </a:defRPr>
            </a:pPr>
            <a:r>
              <a:t>MEASURED TIME METRICS (RUN 1 &amp; 2)</a:t>
            </a:r>
          </a:p>
          <a:p>
            <a:r>
              <a:rPr sz="1000" b="1">
                <a:solidFill>
                  <a:srgbClr val="1E293B"/>
                </a:solidFill>
              </a:rPr>
              <a:t>• Snapshot Duration: </a:t>
            </a:r>
            <a:r>
              <a:rPr sz="1000" b="0">
                <a:solidFill>
                  <a:srgbClr val="334155"/>
                </a:solidFill>
              </a:rPr>
              <a:t>0.5 s – 1.1 s (local disk mirror)
</a:t>
            </a:r>
          </a:p>
          <a:p>
            <a:r>
              <a:rPr sz="1000" b="1">
                <a:solidFill>
                  <a:srgbClr val="1E293B"/>
                </a:solidFill>
              </a:rPr>
              <a:t>• Recovery Time (RTO): </a:t>
            </a:r>
            <a:r>
              <a:rPr sz="1000" b="0">
                <a:solidFill>
                  <a:srgbClr val="334155"/>
                </a:solidFill>
              </a:rPr>
              <a:t>10.6 s – 15.0 s
</a:t>
            </a:r>
          </a:p>
          <a:p>
            <a:r>
              <a:rPr sz="1000" b="1">
                <a:solidFill>
                  <a:srgbClr val="DC2626"/>
                </a:solidFill>
              </a:rPr>
              <a:t>• Operational Verdict: </a:t>
            </a:r>
            <a:r>
              <a:rPr sz="1000" b="0">
                <a:solidFill>
                  <a:srgbClr val="334155"/>
                </a:solidFill>
              </a:rPr>
              <a:t>Fast recovery, but unacceptable RPO breach for active workloads.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B: pgBackRest with Archived WAL (100% Recovery)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5577840" cy="356616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5577840" cy="356616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59669"/>
                </a:solidFill>
              </a:defRPr>
            </a:pPr>
            <a:r>
              <a:t>EXECUTION TIMELINE &amp; RECOVERY LOGIC</a:t>
            </a:r>
          </a:p>
          <a:p>
            <a:r>
              <a:rPr sz="1000" b="1">
                <a:solidFill>
                  <a:srgbClr val="1E293B"/>
                </a:solidFill>
              </a:rPr>
              <a:t>1. Online Base Backup: </a:t>
            </a:r>
            <a:r>
              <a:rPr sz="1000" b="0">
                <a:solidFill>
                  <a:srgbClr val="334155"/>
                </a:solidFill>
              </a:rPr>
              <a:t>pgBackRest creates hot physical backup at 100 bookings.
</a:t>
            </a:r>
          </a:p>
          <a:p>
            <a:r>
              <a:rPr sz="1000" b="1">
                <a:solidFill>
                  <a:srgbClr val="1E293B"/>
                </a:solidFill>
              </a:rPr>
              <a:t>2. Live Traffic &amp; Named Restore Point: </a:t>
            </a:r>
            <a:r>
              <a:rPr sz="1000" b="0">
                <a:solidFill>
                  <a:srgbClr val="334155"/>
                </a:solidFill>
              </a:rPr>
              <a:t>20 attendees register (120 total / 40 Garba). Restore point rp_scenario_b planted with logged LSN.
</a:t>
            </a:r>
          </a:p>
          <a:p>
            <a:r>
              <a:rPr sz="1000" b="1">
                <a:solidFill>
                  <a:srgbClr val="059669"/>
                </a:solidFill>
              </a:rPr>
              <a:t>3. Verified Archival Guard: </a:t>
            </a:r>
            <a:r>
              <a:rPr sz="1000" b="0">
                <a:solidFill>
                  <a:srgbClr val="334155"/>
                </a:solidFill>
              </a:rPr>
              <a:t>Harness verifies WAL segment reached repository before proceeding.
</a:t>
            </a:r>
          </a:p>
          <a:p>
            <a:r>
              <a:rPr sz="1000" b="1">
                <a:solidFill>
                  <a:srgbClr val="1E293B"/>
                </a:solidFill>
              </a:rPr>
              <a:t>4. Disaster &amp; Target PITR Restore: </a:t>
            </a:r>
            <a:r>
              <a:rPr sz="1000" b="0">
                <a:solidFill>
                  <a:srgbClr val="334155"/>
                </a:solidFill>
              </a:rPr>
              <a:t>DELETE wipes Garba. pgBackRest restores base backup, rolls forward WAL to target, and promotes.
</a:t>
            </a:r>
          </a:p>
          <a:p>
            <a:r>
              <a:rPr sz="1050" b="1">
                <a:solidFill>
                  <a:srgbClr val="059669"/>
                </a:solidFill>
              </a:rPr>
              <a:t>• Final Evaluated State: </a:t>
            </a:r>
            <a:r>
              <a:rPr sz="1050" b="0">
                <a:solidFill>
                  <a:srgbClr val="334155"/>
                </a:solidFill>
              </a:rPr>
              <a:t>120 Total / 40 Garba. Exactly 20/20 new registrations recovered!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29400" y="1691640"/>
            <a:ext cx="470916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29400" y="1691640"/>
            <a:ext cx="4709160" cy="169164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TRANSACTIONS PRESERVED (RPO)</a:t>
            </a:r>
          </a:p>
          <a:p>
            <a:pPr>
              <a:spcAft>
                <a:spcPts val="200"/>
              </a:spcAft>
              <a:defRPr sz="3600" b="1">
                <a:solidFill>
                  <a:srgbClr val="059669"/>
                </a:solidFill>
              </a:defRPr>
            </a:pPr>
            <a:r>
              <a:t>20 / 20 (100%)</a:t>
            </a:r>
          </a:p>
          <a:p>
            <a:pPr>
              <a:defRPr sz="1050" b="1">
                <a:solidFill>
                  <a:srgbClr val="1E293B"/>
                </a:solidFill>
              </a:defRPr>
            </a:pPr>
            <a:r>
              <a:t>Zero Data Loss • All Transaction IDs Intact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3566160"/>
            <a:ext cx="4709160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3566160"/>
            <a:ext cx="4709160" cy="169164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5B1A2E"/>
                </a:solidFill>
              </a:defRPr>
            </a:pPr>
            <a:r>
              <a:t>PERFORMANCE &amp; AUDIT VALIDATION</a:t>
            </a:r>
          </a:p>
          <a:p>
            <a:r>
              <a:rPr sz="1000" b="1">
                <a:solidFill>
                  <a:srgbClr val="1E293B"/>
                </a:solidFill>
              </a:rPr>
              <a:t>• Recovery Time (RTO): </a:t>
            </a:r>
            <a:r>
              <a:rPr sz="1000" b="0">
                <a:solidFill>
                  <a:srgbClr val="334155"/>
                </a:solidFill>
              </a:rPr>
              <a:t>17.6 s – 20.6 s (only ~5s more than snapshot)
</a:t>
            </a:r>
          </a:p>
          <a:p>
            <a:r>
              <a:rPr sz="1000" b="1">
                <a:solidFill>
                  <a:srgbClr val="5B1A2E"/>
                </a:solidFill>
              </a:rPr>
              <a:t>• Engine Log Proof: </a:t>
            </a:r>
            <a:r>
              <a:rPr sz="950" b="1">
                <a:solidFill>
                  <a:srgbClr val="380C17"/>
                </a:solidFill>
              </a:rPr>
              <a:t>'recovery stopping at restore point "rp_scenario_b"'
</a:t>
            </a:r>
          </a:p>
          <a:p>
            <a:r>
              <a:rPr sz="1000" b="1">
                <a:solidFill>
                  <a:srgbClr val="1E293B"/>
                </a:solidFill>
              </a:rPr>
              <a:t>• Reproducibility: </a:t>
            </a:r>
            <a:r>
              <a:rPr sz="1000" b="0">
                <a:solidFill>
                  <a:srgbClr val="334155"/>
                </a:solidFill>
              </a:rPr>
              <a:t>100% verified across both independent experimental runs.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Quantitative Evaluation: Recovery Time &amp; Reliability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512064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covery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783080"/>
            <a:ext cx="4937760" cy="20574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36208" y="1691640"/>
            <a:ext cx="512064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ckup_dur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783080"/>
            <a:ext cx="4937760" cy="2057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1248" y="4069080"/>
            <a:ext cx="10515600" cy="11887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069080"/>
            <a:ext cx="10515600" cy="118872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5B1A2E"/>
                </a:solidFill>
              </a:defRPr>
            </a:pPr>
            <a:r>
              <a:t>EMPIRICAL RECOVERY TIME &amp; STORAGE METRICS</a:t>
            </a:r>
          </a:p>
          <a:p>
            <a:r>
              <a:rPr sz="950" b="1">
                <a:solidFill>
                  <a:srgbClr val="1E293B"/>
                </a:solidFill>
              </a:rPr>
              <a:t>• Recovery Time Objective (RTO): </a:t>
            </a:r>
            <a:r>
              <a:rPr sz="950" b="0">
                <a:solidFill>
                  <a:srgbClr val="334155"/>
                </a:solidFill>
              </a:rPr>
              <a:t>Snapshot restores in 10.6–15.0 s vs pgBackRest in 17.6–20.6 s. The ~5 s extra replay time completely prevents data loss.
</a:t>
            </a:r>
          </a:p>
          <a:p>
            <a:r>
              <a:rPr sz="950" b="1">
                <a:solidFill>
                  <a:srgbClr val="1E293B"/>
                </a:solidFill>
              </a:rPr>
              <a:t>• Local Storage Optimization: </a:t>
            </a:r>
            <a:r>
              <a:rPr sz="950" b="0">
                <a:solidFill>
                  <a:srgbClr val="334155"/>
                </a:solidFill>
              </a:rPr>
              <a:t>Differential (2.5s / 698KB) and Incremental (3.0s / 636KB) cut routine backup duration by 75% and storage by &gt;84% vs Full (10.6s / 4.5MB).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Conclusion: Automated DR without Cloud Infrastructure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512064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5120640" cy="356616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5B1A2E"/>
                </a:solidFill>
              </a:defRPr>
            </a:pPr>
            <a:r>
              <a:t>CORE PROJECT FINDINGS</a:t>
            </a:r>
          </a:p>
          <a:p>
            <a:r>
              <a:rPr sz="1000" b="1">
                <a:solidFill>
                  <a:srgbClr val="1E293B"/>
                </a:solidFill>
              </a:rPr>
              <a:t>1. Automated Disaster Recovery:
</a:t>
            </a:r>
            <a:r>
              <a:rPr sz="950" b="0">
                <a:solidFill>
                  <a:srgbClr val="334155"/>
                </a:solidFill>
              </a:rPr>
              <a:t>pgBackRest automates database backups, continuous WAL archiving, and targeted PITR without requiring external cloud infrastructure.
</a:t>
            </a:r>
          </a:p>
          <a:p>
            <a:r>
              <a:rPr sz="1000" b="1">
                <a:solidFill>
                  <a:srgbClr val="1E293B"/>
                </a:solidFill>
              </a:rPr>
              <a:t>2. High Reliability &amp; Speed:
</a:t>
            </a:r>
            <a:r>
              <a:rPr sz="950" b="0">
                <a:solidFill>
                  <a:srgbClr val="334155"/>
                </a:solidFill>
              </a:rPr>
              <a:t>Preserved 100% of transactions with an RTO of ~17–20s; differential and incremental modes cut backup overhead by &gt;84%.
</a:t>
            </a:r>
          </a:p>
          <a:p>
            <a:r>
              <a:rPr sz="1000" b="1">
                <a:solidFill>
                  <a:srgbClr val="DC2626"/>
                </a:solidFill>
              </a:rPr>
              <a:t>3. Local Lab Evaluation:
</a:t>
            </a:r>
            <a:r>
              <a:rPr sz="950" b="0">
                <a:solidFill>
                  <a:srgbClr val="334155"/>
                </a:solidFill>
              </a:rPr>
              <a:t>Demonstrated full operational recovery on single-host Docker; cloud offloading remains an optional enhancement rather than a dependency.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36208" y="1691640"/>
            <a:ext cx="5120640" cy="35661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36208" y="1691640"/>
            <a:ext cx="5120640" cy="356616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5B1A2E"/>
                </a:solidFill>
              </a:defRPr>
            </a:pPr>
            <a:r>
              <a:t>PRIMARY REFERENCES &amp; REPRODUCIBILITY</a:t>
            </a:r>
          </a:p>
          <a:p>
            <a:r>
              <a:rPr sz="950" b="1">
                <a:solidFill>
                  <a:srgbClr val="1E293B"/>
                </a:solidFill>
              </a:rPr>
              <a:t>[1] pgBackRest User Guide &amp; Architecture (v2.59.3)
</a:t>
            </a:r>
            <a:r>
              <a:rPr sz="850" b="0">
                <a:solidFill>
                  <a:srgbClr val="64748B"/>
                </a:solidFill>
              </a:rPr>
              <a:t>https://pgbackrest.org/user-guide.html
</a:t>
            </a:r>
          </a:p>
          <a:p>
            <a:r>
              <a:rPr sz="950" b="1">
                <a:solidFill>
                  <a:srgbClr val="1E293B"/>
                </a:solidFill>
              </a:rPr>
              <a:t>[2] PostgreSQL 17 Backup and Restore Documentation
</a:t>
            </a:r>
            <a:r>
              <a:rPr sz="850" b="0">
                <a:solidFill>
                  <a:srgbClr val="64748B"/>
                </a:solidFill>
              </a:rPr>
              <a:t>https://www.postgresql.org/docs/17/backup.html
</a:t>
            </a:r>
          </a:p>
          <a:p>
            <a:r>
              <a:rPr sz="950" b="1">
                <a:solidFill>
                  <a:srgbClr val="1E293B"/>
                </a:solidFill>
              </a:rPr>
              <a:t>[3] Continuous Archiving and PITR (Chapter 25)
</a:t>
            </a:r>
            <a:r>
              <a:rPr sz="850" b="0">
                <a:solidFill>
                  <a:srgbClr val="64748B"/>
                </a:solidFill>
              </a:rPr>
              <a:t>https://www.postgresql.org/docs/17/continuous-archiving.html
</a:t>
            </a:r>
          </a:p>
          <a:p>
            <a:r>
              <a:rPr sz="1000" b="1">
                <a:solidFill>
                  <a:srgbClr val="5B1A2E"/>
                </a:solidFill>
              </a:rPr>
              <a:t>• Reproducibility: </a:t>
            </a:r>
            <a:r>
              <a:rPr sz="950" b="0">
                <a:solidFill>
                  <a:srgbClr val="334155"/>
                </a:solidFill>
              </a:rPr>
              <a:t>All scripts, Makefile targets, and raw CSV runs available in repository.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Somaiya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2022-02-21T05:08:08Z</dcterms:created>
  <dc:creator>Pushpendra Kumar Dhansoia</dc:creator>
</cp:coreProperties>
</file>