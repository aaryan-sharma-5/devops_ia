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the evaluator; state the topic and pinned versions up front.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Tell the incident story; switch to /admin screenshot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at Garba KPI = 40 post-recovery; stress: never hardcoded.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question aloud; map each objective to later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Defuse the 'rsync is bad' misreading before showing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Trace the WAL arrow; explain why repo lives outside PGDATA.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at sizes: repo-compressed bytes, not raw DB size.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home screenshot; note 12 OCT badge and live pill.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recovered row of experiment_runs.csv; show chart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db recovery log excerpt; refresh /admin live if demoing.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the one-sentence answer; invite questions on RPO.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evaluator; offer live re-run of either scenario.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5B1A2E"/>
                </a:solidFill>
              </a:defRPr>
            </a:pPr>
            <a:r>
              <a:t>PostgreSQL Disaster Recovery Using pgBackRest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C1A22"/>
                </a:solidFill>
              </a:defRPr>
            </a:pPr>
            <a:r>
              <a:t>•  WAL Archiving, Point-in-Time Recovery &amp; Backup Evaluation</a:t>
            </a:r>
          </a:p>
          <a:p>
            <a:pPr>
              <a:spcAft>
                <a:spcPts val="800"/>
              </a:spcAft>
              <a:defRPr sz="2000">
                <a:solidFill>
                  <a:srgbClr val="2C1A22"/>
                </a:solidFill>
              </a:defRPr>
            </a:pPr>
            <a:r>
              <a:t>•  Case study: StagePass — KJSCE Garba Eve, 12 October</a:t>
            </a:r>
          </a:p>
          <a:p>
            <a:pPr>
              <a:spcAft>
                <a:spcPts val="800"/>
              </a:spcAft>
              <a:defRPr sz="2000">
                <a:solidFill>
                  <a:srgbClr val="2C1A22"/>
                </a:solidFill>
              </a:defRPr>
            </a:pPr>
            <a:r>
              <a:t>•  PG 17.11  •  pgBackRest 2.59.3  •  Docker Compose 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5B1A2E"/>
                </a:solidFill>
              </a:defRPr>
            </a:pPr>
            <a:r>
              <a:t>The problem: one bad DELETE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C1A22"/>
                </a:solidFill>
              </a:defRPr>
            </a:pPr>
            <a:r>
              <a:t>•  80 bookings left, Garba Eve bookings = 0</a:t>
            </a:r>
          </a:p>
          <a:p>
            <a:pPr>
              <a:spcAft>
                <a:spcPts val="800"/>
              </a:spcAft>
              <a:defRPr sz="2000">
                <a:solidFill>
                  <a:srgbClr val="2C1A22"/>
                </a:solidFill>
              </a:defRPr>
            </a:pPr>
            <a:r>
              <a:t>•  Dashboard goes visibly wrong — real rows, not a mock</a:t>
            </a:r>
          </a:p>
          <a:p>
            <a:pPr>
              <a:spcAft>
                <a:spcPts val="800"/>
              </a:spcAft>
              <a:defRPr sz="2000">
                <a:solidFill>
                  <a:srgbClr val="2C1A22"/>
                </a:solidFill>
              </a:defRPr>
            </a:pPr>
            <a:r>
              <a:t>•  Requirement: restore service, lose (almost) nothing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5B1A2E"/>
                </a:solidFill>
              </a:defRPr>
            </a:pPr>
            <a:r>
              <a:t>What the evaluator sees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C1A22"/>
                </a:solidFill>
              </a:defRPr>
            </a:pPr>
            <a:r>
              <a:t>•  Live counts from PostgreSQL — incident and recovery are visible here</a:t>
            </a:r>
          </a:p>
        </p:txBody>
      </p:sp>
      <p:pic>
        <p:nvPicPr>
          <p:cNvPr id="5" name="Picture 4" descr="adm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280160"/>
            <a:ext cx="4389120" cy="395706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5B1A2E"/>
                </a:solidFill>
              </a:defRPr>
            </a:pPr>
            <a:r>
              <a:t>Research question &amp;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C1A22"/>
                </a:solidFill>
              </a:defRPr>
            </a:pPr>
            <a:r>
              <a:t>•  How does pgBackRest + archived WAL improve recoverability vs a snapshot alone — and at what time/storage cost?</a:t>
            </a:r>
          </a:p>
          <a:p>
            <a:pPr>
              <a:spcAft>
                <a:spcPts val="800"/>
              </a:spcAft>
              <a:defRPr sz="2000">
                <a:solidFill>
                  <a:srgbClr val="2C1A22"/>
                </a:solidFill>
              </a:defRPr>
            </a:pPr>
            <a:r>
              <a:t>•  O1 repeatable app + workload + incident  •  O2 A/B recovery comparison  •  O3 backup-mode trade-offs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5B1A2E"/>
                </a:solidFill>
              </a:defRPr>
            </a:pPr>
            <a:r>
              <a:t>Why a snapshot alone is a limited baseline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C1A22"/>
                </a:solidFill>
              </a:defRPr>
            </a:pPr>
            <a:r>
              <a:t>•  Stopped-cluster rsync mirror = consistent files at time T</a:t>
            </a:r>
          </a:p>
          <a:p>
            <a:pPr>
              <a:spcAft>
                <a:spcPts val="800"/>
              </a:spcAft>
              <a:defRPr sz="2000">
                <a:solidFill>
                  <a:srgbClr val="2C1A22"/>
                </a:solidFill>
              </a:defRPr>
            </a:pPr>
            <a:r>
              <a:t>•  No WAL replay by design → post-snapshot transactions unrecoverable</a:t>
            </a:r>
          </a:p>
          <a:p>
            <a:pPr>
              <a:spcAft>
                <a:spcPts val="800"/>
              </a:spcAft>
              <a:defRPr sz="2000">
                <a:solidFill>
                  <a:srgbClr val="2C1A22"/>
                </a:solidFill>
              </a:defRPr>
            </a:pPr>
            <a:r>
              <a:t>•  Honest scope: rsync + WAL could do more — we test snapshot-ONLY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5B1A2E"/>
                </a:solidFill>
              </a:defRPr>
            </a:pPr>
            <a:r>
              <a:t>Architecture: app → DB → WAL → repo → recovery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C1A22"/>
                </a:solidFill>
              </a:defRPr>
            </a:pPr>
            <a:r>
              <a:t>•  app: FastAPI/Jinja2 (request-scoped DB, survives restores)</a:t>
            </a:r>
          </a:p>
          <a:p>
            <a:pPr>
              <a:spcAft>
                <a:spcPts val="800"/>
              </a:spcAft>
              <a:defRPr sz="2000">
                <a:solidFill>
                  <a:srgbClr val="2C1A22"/>
                </a:solidFill>
              </a:defRPr>
            </a:pPr>
            <a:r>
              <a:t>•  db: PG17, archive-push → repo volume (separate from PGDATA)</a:t>
            </a:r>
          </a:p>
          <a:p>
            <a:pPr>
              <a:spcAft>
                <a:spcPts val="800"/>
              </a:spcAft>
              <a:defRPr sz="2000">
                <a:solidFill>
                  <a:srgbClr val="2C1A22"/>
                </a:solidFill>
              </a:defRPr>
            </a:pPr>
            <a:r>
              <a:t>•  backup-tools: guarded rsync + restore ops; PITR target → promote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5B1A2E"/>
                </a:solidFill>
              </a:defRPr>
            </a:pPr>
            <a:r>
              <a:t>Full / differential / incremental + named PITR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C1A22"/>
                </a:solidFill>
              </a:defRPr>
            </a:pPr>
            <a:r>
              <a:t>•  Full 10.6 s / 4.5 MB → diff 2.5 s / 0.7 MB → incr 3.0 s / 0.6 MB</a:t>
            </a:r>
          </a:p>
          <a:p>
            <a:pPr>
              <a:spcAft>
                <a:spcPts val="800"/>
              </a:spcAft>
              <a:defRPr sz="2000">
                <a:solidFill>
                  <a:srgbClr val="2C1A22"/>
                </a:solidFill>
              </a:defRPr>
            </a:pPr>
            <a:r>
              <a:t>•  Named target: pg_create_restore_point + --type=name (self-documenting)</a:t>
            </a:r>
          </a:p>
          <a:p>
            <a:pPr>
              <a:spcAft>
                <a:spcPts val="800"/>
              </a:spcAft>
              <a:defRPr sz="2000">
                <a:solidFill>
                  <a:srgbClr val="2C1A22"/>
                </a:solidFill>
              </a:defRPr>
            </a:pPr>
            <a:r>
              <a:t>•  Restore waits for proven WAL archival — never assumed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5B1A2E"/>
                </a:solidFill>
              </a:defRPr>
            </a:pPr>
            <a:r>
              <a:t>StagePass 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C1A22"/>
                </a:solidFill>
              </a:defRPr>
            </a:pPr>
            <a:r>
              <a:t>•  Seed 100 (20/50/30) • same 20-HTTP workload in A and B</a:t>
            </a:r>
          </a:p>
          <a:p>
            <a:pPr>
              <a:spcAft>
                <a:spcPts val="800"/>
              </a:spcAft>
              <a:defRPr sz="2000">
                <a:solidFill>
                  <a:srgbClr val="2C1A22"/>
                </a:solidFill>
              </a:defRPr>
            </a:pPr>
            <a:r>
              <a:t>•  Guarded scripts, run IDs, raw CSVs + logs for every claim</a:t>
            </a:r>
          </a:p>
        </p:txBody>
      </p:sp>
      <p:pic>
        <p:nvPicPr>
          <p:cNvPr id="5" name="Picture 4" descr="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280160"/>
            <a:ext cx="4389120" cy="30861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5B1A2E"/>
                </a:solidFill>
              </a:defRPr>
            </a:pPr>
            <a:r>
              <a:t>Scenario A: snapshot-only → 100 (20 lost)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C1A22"/>
                </a:solidFill>
              </a:defRPr>
            </a:pPr>
            <a:r>
              <a:t>•  Baseline 100 → pre 120 → incident 80 → recovered 100</a:t>
            </a:r>
          </a:p>
          <a:p>
            <a:pPr>
              <a:spcAft>
                <a:spcPts val="800"/>
              </a:spcAft>
              <a:defRPr sz="2000">
                <a:solidFill>
                  <a:srgbClr val="2C1A22"/>
                </a:solidFill>
              </a:defRPr>
            </a:pPr>
            <a:r>
              <a:t>•  The 20 post-snapshot registrations are gone — by design</a:t>
            </a:r>
          </a:p>
          <a:p>
            <a:pPr>
              <a:spcAft>
                <a:spcPts val="800"/>
              </a:spcAft>
              <a:defRPr sz="2000">
                <a:solidFill>
                  <a:srgbClr val="2C1A22"/>
                </a:solidFill>
              </a:defRPr>
            </a:pPr>
            <a:r>
              <a:t>•  Reproduced twice (run1, run2)</a:t>
            </a:r>
          </a:p>
        </p:txBody>
      </p:sp>
      <p:pic>
        <p:nvPicPr>
          <p:cNvPr id="5" name="Picture 4" descr="recovery_cou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280160"/>
            <a:ext cx="4389120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5B1A2E"/>
                </a:solidFill>
              </a:defRPr>
            </a:pPr>
            <a:r>
              <a:t>Scenario B: PITR → 120 (0 lost)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C1A22"/>
                </a:solidFill>
              </a:defRPr>
            </a:pPr>
            <a:r>
              <a:t>•  Named target after 20 regs, before DELETE → replay archived WAL</a:t>
            </a:r>
          </a:p>
          <a:p>
            <a:pPr>
              <a:spcAft>
                <a:spcPts val="800"/>
              </a:spcAft>
              <a:defRPr sz="2000">
                <a:solidFill>
                  <a:srgbClr val="2C1A22"/>
                </a:solidFill>
              </a:defRPr>
            </a:pPr>
            <a:r>
              <a:t>•  Recovered 120/40, 20/20 IDs, log-confirmed target (×2 runs)</a:t>
            </a:r>
          </a:p>
          <a:p>
            <a:pPr>
              <a:spcAft>
                <a:spcPts val="800"/>
              </a:spcAft>
              <a:defRPr sz="2000">
                <a:solidFill>
                  <a:srgbClr val="2C1A22"/>
                </a:solidFill>
              </a:defRPr>
            </a:pPr>
            <a:r>
              <a:t>•  pg_dump contrast: 0.3 s but no WAL replay by itself</a:t>
            </a:r>
          </a:p>
        </p:txBody>
      </p:sp>
      <p:pic>
        <p:nvPicPr>
          <p:cNvPr id="5" name="Picture 4" descr="backup_dura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280160"/>
            <a:ext cx="4389120" cy="250806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5B1A2E"/>
                </a:solidFill>
              </a:defRPr>
            </a:pPr>
            <a:r>
              <a:t>Evaluation, limits,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C1A22"/>
                </a:solidFill>
              </a:defRPr>
            </a:pPr>
            <a:r>
              <a:t>•  RTO: ~11–15 s vs ~18–21 s — seconds apart; recoverability: 20 txns apart</a:t>
            </a:r>
          </a:p>
          <a:p>
            <a:pPr>
              <a:spcAft>
                <a:spcPts val="800"/>
              </a:spcAft>
              <a:defRPr sz="2000">
                <a:solidFill>
                  <a:srgbClr val="2C1A22"/>
                </a:solidFill>
              </a:defRPr>
            </a:pPr>
            <a:r>
              <a:t>•  Limits: laptop-local repo, single bench trial, target discards later data</a:t>
            </a:r>
          </a:p>
          <a:p>
            <a:pPr>
              <a:spcAft>
                <a:spcPts val="800"/>
              </a:spcAft>
              <a:defRPr sz="2000">
                <a:solidFill>
                  <a:srgbClr val="2C1A22"/>
                </a:solidFill>
              </a:defRPr>
            </a:pPr>
            <a:r>
              <a:t>•  Answer: PITR turns 'state at backup time' into 'state at chosen target'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5B1A2E"/>
                </a:solidFill>
              </a:defRPr>
            </a:pPr>
            <a:r>
              <a:t>References &amp; 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C1A22"/>
                </a:solidFill>
              </a:defRPr>
            </a:pPr>
            <a:r>
              <a:t>•  pgbackrest.org user guide + command reference; postgresql.org backup/WAL/pg_dump docs</a:t>
            </a:r>
          </a:p>
          <a:p>
            <a:pPr>
              <a:spcAft>
                <a:spcPts val="800"/>
              </a:spcAft>
              <a:defRPr sz="2000">
                <a:solidFill>
                  <a:srgbClr val="2C1A22"/>
                </a:solidFill>
              </a:defRPr>
            </a:pPr>
            <a:r>
              <a:t>•  All accessed 2026-10-12 • claim map: docs/SOURCES.md</a:t>
            </a:r>
          </a:p>
          <a:p>
            <a:pPr>
              <a:spcAft>
                <a:spcPts val="800"/>
              </a:spcAft>
              <a:defRPr sz="2000">
                <a:solidFill>
                  <a:srgbClr val="2C1A22"/>
                </a:solidFill>
              </a:defRPr>
            </a:pPr>
            <a:r>
              <a:t>•  Reproduce: make up &amp;&amp; make seed &amp;&amp; make test &amp;&amp; make demo-rsync &amp;&amp; make demo-pgbackrest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